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98" r:id="rId4"/>
    <p:sldId id="301" r:id="rId5"/>
    <p:sldId id="265" r:id="rId6"/>
    <p:sldId id="260" r:id="rId7"/>
    <p:sldId id="283" r:id="rId8"/>
    <p:sldId id="294" r:id="rId9"/>
    <p:sldId id="295" r:id="rId10"/>
    <p:sldId id="296" r:id="rId11"/>
    <p:sldId id="299" r:id="rId12"/>
    <p:sldId id="273" r:id="rId13"/>
    <p:sldId id="291" r:id="rId14"/>
    <p:sldId id="3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3EFF1-6925-408E-BD6B-DD47F8D56D2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6BC8F-E85E-4A4E-8624-2FB1763FA7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F5E2-3ADA-94D4-D852-851ECED5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9A990-11AD-B33D-54E3-F5CD00FF2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8943F-8DDD-379F-C74D-ECE21A63C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F846A-EC80-38BE-0AF4-27CE1F0EF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1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393DD-FF2A-91B0-9F67-FE23783D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25597-D36A-9C7C-7D6B-D29765184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C5057-6CBB-7C22-A971-490FB190A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58FE5-17CB-6531-5531-36499BFF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2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6E6BF-6015-C289-CB50-CCCB13C17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7C7BFD-F17D-ED47-3E2E-721382A6F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C3881-92E1-8020-156E-E845326F3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F1D23-0FCB-683B-E44B-C8DB8209F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82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C1EA4-B561-3919-1888-B992BD65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3BCE8-3207-A5A5-45DD-73A02A479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6BF6B-E569-0397-7116-FF6B0291B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9CBEE-86DC-5655-4795-52F3E809D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68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801CC-45A8-C1D3-7ABB-4EF2CD60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B5D81-72B6-69D0-778C-53E00668C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14C95-A91B-63D0-7B73-C2E84BC74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1B9FF-E974-F9FF-DA59-E790A65D3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636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79548-256D-27B7-66C6-687484E7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63EA4-0AEB-56A3-7955-41F9912A3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96B2C-5E84-04FD-D232-2E7B0C032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37CA0-CF64-603B-D863-F8D0FE28D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225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CCE81-802A-71AC-34FD-897441B22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DC59D-F683-19CE-D283-31A261253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A605D-E1E3-0498-A03D-AF6D7608C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3892F-45FC-96B8-A5FB-8EE062976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6BC8F-E85E-4A4E-8624-2FB1763FA7C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4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2B2-1E79-4C25-92C9-5E1043CE13A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4BD6-7F83-4568-B70A-F657468A31B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EB94-561B-4D73-B4C6-DF16DE2956B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7C6-237B-4823-A937-596DB81B6503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A4F7-F0B2-4E58-8485-D498AD748580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CF98-443D-4FA8-80F8-8273D597AFB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8AF73-CCA5-4FB8-833D-EA34EAB01DF1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DC3C-83FE-415E-8EF7-B92C49FFFE51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FAA7-5E91-44CD-A3B7-C41AAA3840C7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BAEC-7E34-474B-B642-6A7CAEB2194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6DD5-4133-4BD0-B384-CDF9750CA1A6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7521-1A90-45FD-85AE-240E2F11EF1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267525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HỌC QUỐC GIA THÀNH PHỐ HỒ CHÍ MINH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BÁCH KHOA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ĐIỆN-ĐIỆN TỬ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MÔN ĐIỆN TỬ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1433" y="4531837"/>
            <a:ext cx="4572000" cy="1655762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Phạm Anh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MSSV: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2251026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075" y="541095"/>
            <a:ext cx="1736717" cy="1578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1790" y="2448560"/>
            <a:ext cx="6408420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 ÁN CHUYÊN NGÀNH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50% TIẾN ĐỘ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RISCV - VECTOR PROCESSOR UNIT </a:t>
            </a:r>
          </a:p>
          <a:p>
            <a:pPr algn="ctr"/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998868"/>
              </p:ext>
            </p:extLst>
          </p:nvPr>
        </p:nvGraphicFramePr>
        <p:xfrm>
          <a:off x="609600" y="1233298"/>
          <a:ext cx="10882965" cy="4125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7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7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7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Trạng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thái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Kết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quả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29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Processing Element (PE)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dirty="0"/>
                        <a:t>Hoàn thành ALU 32-bit; hỗ trợ tập lệnh tính toán cơ bản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với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cơ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chế</a:t>
                      </a:r>
                      <a:r>
                        <a:rPr lang="en-US" dirty="0"/>
                        <a:t> hierarchy (8/16/32)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50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Masking Element in 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tail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agnostic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mask agnostic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699684"/>
                  </a:ext>
                </a:extLst>
              </a:tr>
              <a:tr h="84929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CSRs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dirty="0"/>
                        <a:t>Encode thành công 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vtype</a:t>
                      </a:r>
                      <a:r>
                        <a:rPr lang="vi-VN" dirty="0"/>
                        <a:t> và 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vl</a:t>
                      </a:r>
                      <a:r>
                        <a:rPr lang="vi-VN" dirty="0"/>
                        <a:t>; lưu trữ trạng thái cấu hình ổn định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148397"/>
                  </a:ext>
                </a:extLst>
              </a:tr>
              <a:tr h="12908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 Vector Queue with forwarding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dirty="0"/>
                        <a:t>Async FIFO hoạt động ổn định; cơ chế Forwarding giúp giảm latency từ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vi-VN" dirty="0"/>
                        <a:t> xuống còn </a:t>
                      </a:r>
                      <a:r>
                        <a:rPr lang="vi-V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vi-VN" dirty="0"/>
                        <a:t> cycle khi hàng đợi rỗng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21613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53370" y="-143737"/>
            <a:ext cx="10515600" cy="1325563"/>
          </a:xfrm>
        </p:spPr>
        <p:txBody>
          <a:bodyPr/>
          <a:lstStyle/>
          <a:p>
            <a:r>
              <a:rPr lang="en-US" b="1" dirty="0"/>
              <a:t>Task Items</a:t>
            </a:r>
          </a:p>
        </p:txBody>
      </p:sp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5DB7-1138-C106-2468-A90B8D31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8B15F1-FB04-5632-653C-7F4FB4B50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33181"/>
            <a:ext cx="7730173" cy="5798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DA0D20-9D1D-F8D3-D989-92A961022E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AC1A89-653E-AC94-8654-0208B6F35FE0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Google Shape;116;p14">
            <a:extLst>
              <a:ext uri="{FF2B5EF4-FFF2-40B4-BE49-F238E27FC236}">
                <a16:creationId xmlns:a16="http://schemas.microsoft.com/office/drawing/2014/main" id="{2F0F42B3-7AE4-7D79-DEC0-61EEA4A74231}"/>
              </a:ext>
            </a:extLst>
          </p:cNvPr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/>
              <a:t>Limitation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92B7A0-E847-9AEF-8F32-0A546985C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3829" y="5159302"/>
            <a:ext cx="4422113" cy="132573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7ADD1BF-0A22-FC82-A7B9-FC6FC5288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9" y="1233181"/>
            <a:ext cx="4005943" cy="20682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Limitation</a:t>
            </a:r>
          </a:p>
          <a:p>
            <a:pPr marL="0" indent="0">
              <a:buNone/>
            </a:pPr>
            <a:r>
              <a:rPr lang="en-US" sz="1400" dirty="0"/>
              <a:t>Ở </a:t>
            </a:r>
            <a:r>
              <a:rPr lang="en-US" sz="1400" dirty="0" err="1"/>
              <a:t>hệ</a:t>
            </a:r>
            <a:r>
              <a:rPr lang="en-US" sz="1400" dirty="0"/>
              <a:t> </a:t>
            </a:r>
            <a:r>
              <a:rPr lang="en-US" sz="1400" dirty="0" err="1"/>
              <a:t>thống</a:t>
            </a:r>
            <a:r>
              <a:rPr lang="en-US" sz="1400" dirty="0"/>
              <a:t> </a:t>
            </a:r>
            <a:r>
              <a:rPr lang="en-US" sz="1400" dirty="0" err="1"/>
              <a:t>hiện</a:t>
            </a:r>
            <a:r>
              <a:rPr lang="en-US" sz="1400" dirty="0"/>
              <a:t> </a:t>
            </a:r>
            <a:r>
              <a:rPr lang="en-US" sz="1400" dirty="0" err="1"/>
              <a:t>tại</a:t>
            </a:r>
            <a:r>
              <a:rPr lang="en-US" sz="1400" dirty="0"/>
              <a:t>,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tử</a:t>
            </a:r>
            <a:r>
              <a:rPr lang="en-US" sz="1400" dirty="0"/>
              <a:t> </a:t>
            </a:r>
            <a:r>
              <a:rPr lang="en-US" sz="1400" dirty="0" err="1"/>
              <a:t>xử</a:t>
            </a:r>
            <a:r>
              <a:rPr lang="en-US" sz="1400" dirty="0"/>
              <a:t> </a:t>
            </a:r>
            <a:r>
              <a:rPr lang="en-US" sz="1400" dirty="0" err="1"/>
              <a:t>lí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set fixed 32 bit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 err="1"/>
              <a:t>Thiếu</a:t>
            </a:r>
            <a:r>
              <a:rPr lang="en-US" sz="1400" dirty="0"/>
              <a:t> </a:t>
            </a:r>
            <a:r>
              <a:rPr lang="en-US" sz="1400" dirty="0" err="1"/>
              <a:t>đi</a:t>
            </a:r>
            <a:r>
              <a:rPr lang="en-US" sz="1400" dirty="0"/>
              <a:t> </a:t>
            </a: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linh</a:t>
            </a:r>
            <a:r>
              <a:rPr lang="en-US" sz="1400" dirty="0"/>
              <a:t> </a:t>
            </a:r>
            <a:r>
              <a:rPr lang="en-US" sz="1400" dirty="0" err="1"/>
              <a:t>hoạt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bài</a:t>
            </a:r>
            <a:r>
              <a:rPr lang="en-US" sz="1400" dirty="0"/>
              <a:t> </a:t>
            </a:r>
            <a:r>
              <a:rPr lang="en-US" sz="1400" dirty="0" err="1"/>
              <a:t>toán</a:t>
            </a:r>
            <a:r>
              <a:rPr lang="en-US" sz="1400" dirty="0"/>
              <a:t> vector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1400" dirty="0" err="1"/>
              <a:t>Cần</a:t>
            </a:r>
            <a:r>
              <a:rPr lang="en-US" sz="1400" dirty="0"/>
              <a:t> </a:t>
            </a:r>
            <a:r>
              <a:rPr lang="en-US" sz="1400" dirty="0" err="1"/>
              <a:t>cải</a:t>
            </a:r>
            <a:r>
              <a:rPr lang="en-US" sz="1400" dirty="0"/>
              <a:t> </a:t>
            </a:r>
            <a:r>
              <a:rPr lang="en-US" sz="1400" dirty="0" err="1"/>
              <a:t>tiến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xử</a:t>
            </a:r>
            <a:r>
              <a:rPr lang="en-US" sz="1400" dirty="0"/>
              <a:t> </a:t>
            </a:r>
            <a:r>
              <a:rPr lang="en-US" sz="1400" dirty="0" err="1"/>
              <a:t>lí</a:t>
            </a:r>
            <a:r>
              <a:rPr lang="en-US" sz="1400" dirty="0"/>
              <a:t> </a:t>
            </a:r>
            <a:r>
              <a:rPr lang="en-US" sz="1400" dirty="0" err="1"/>
              <a:t>đa</a:t>
            </a:r>
            <a:r>
              <a:rPr lang="en-US" sz="1400" dirty="0"/>
              <a:t> </a:t>
            </a:r>
            <a:r>
              <a:rPr lang="en-US" sz="1400" dirty="0" err="1"/>
              <a:t>dạng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dài</a:t>
            </a:r>
            <a:r>
              <a:rPr lang="en-US" sz="1400" dirty="0"/>
              <a:t> vector </a:t>
            </a:r>
            <a:r>
              <a:rPr lang="en-US" sz="1400" dirty="0" err="1"/>
              <a:t>và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rộng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tử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E6106-BADD-0CDE-28C2-94241362B02B}"/>
              </a:ext>
            </a:extLst>
          </p:cNvPr>
          <p:cNvSpPr txBox="1"/>
          <p:nvPr/>
        </p:nvSpPr>
        <p:spPr>
          <a:xfrm>
            <a:off x="7619999" y="3120445"/>
            <a:ext cx="40059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/>
              <a:t>Ngoài</a:t>
            </a:r>
            <a:r>
              <a:rPr lang="en-US" sz="1800" dirty="0"/>
              <a:t> </a:t>
            </a:r>
            <a:r>
              <a:rPr lang="en-US" sz="1800" dirty="0" err="1"/>
              <a:t>ra</a:t>
            </a:r>
            <a:r>
              <a:rPr lang="en-US" sz="1800" dirty="0"/>
              <a:t>,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lệnh</a:t>
            </a:r>
            <a:r>
              <a:rPr lang="en-US" sz="1800" dirty="0"/>
              <a:t> </a:t>
            </a:r>
            <a:r>
              <a:rPr lang="en-US" sz="1800" dirty="0" err="1"/>
              <a:t>tốn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cycle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lí</a:t>
            </a:r>
            <a:r>
              <a:rPr lang="en-US" sz="1800" dirty="0"/>
              <a:t> </a:t>
            </a:r>
            <a:r>
              <a:rPr lang="en-US" sz="1800" dirty="0" err="1"/>
              <a:t>như</a:t>
            </a:r>
            <a:r>
              <a:rPr lang="en-US" sz="1800" dirty="0"/>
              <a:t> widen hay xa </a:t>
            </a:r>
            <a:r>
              <a:rPr lang="en-US" sz="1800" dirty="0" err="1"/>
              <a:t>hơn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dynamic element </a:t>
            </a:r>
            <a:r>
              <a:rPr lang="en-US" sz="1800" dirty="0" err="1"/>
              <a:t>với</a:t>
            </a:r>
            <a:r>
              <a:rPr lang="en-US" sz="1800" dirty="0"/>
              <a:t> </a:t>
            </a:r>
            <a:r>
              <a:rPr lang="en-US" sz="1800" dirty="0" err="1"/>
              <a:t>lệnh</a:t>
            </a:r>
            <a:r>
              <a:rPr lang="en-US" sz="1800" dirty="0"/>
              <a:t> config</a:t>
            </a:r>
          </a:p>
          <a:p>
            <a:pPr marL="0" indent="0">
              <a:buNone/>
            </a:pPr>
            <a:r>
              <a:rPr lang="en-US" dirty="0"/>
              <a:t>-&gt;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1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lí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7358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F7D2-D0F0-ECCB-AB6F-6CAFA0B7D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804E361-BD40-2356-4716-924618178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0" y="2362803"/>
            <a:ext cx="6511217" cy="1245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375347-EE68-EB4E-4699-89A815B249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E47E56-AE58-ED62-FB4A-0D9135A4C73A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Google Shape;116;p14">
            <a:extLst>
              <a:ext uri="{FF2B5EF4-FFF2-40B4-BE49-F238E27FC236}">
                <a16:creationId xmlns:a16="http://schemas.microsoft.com/office/drawing/2014/main" id="{F3A51B66-0CBA-274F-6BDD-5D9CDB844FD4}"/>
              </a:ext>
            </a:extLst>
          </p:cNvPr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/>
              <a:t>Limitation</a:t>
            </a:r>
            <a:endParaRPr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8F8FD7C-CE55-206B-3EA2-F430EF16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9" y="1324996"/>
            <a:ext cx="4604430" cy="2389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Solution</a:t>
            </a:r>
          </a:p>
          <a:p>
            <a:pPr marL="0" indent="0">
              <a:buNone/>
            </a:pPr>
            <a:r>
              <a:rPr lang="en-US" sz="1400" dirty="0" err="1"/>
              <a:t>Tăng</a:t>
            </a:r>
            <a:r>
              <a:rPr lang="en-US" sz="1400" dirty="0"/>
              <a:t> </a:t>
            </a:r>
            <a:r>
              <a:rPr lang="en-US" sz="1400" dirty="0" err="1"/>
              <a:t>số</a:t>
            </a:r>
            <a:r>
              <a:rPr lang="en-US" sz="1400" dirty="0"/>
              <a:t> </a:t>
            </a:r>
            <a:r>
              <a:rPr lang="en-US" sz="1400" dirty="0" err="1"/>
              <a:t>lượng</a:t>
            </a:r>
            <a:r>
              <a:rPr lang="en-US" sz="1400" dirty="0"/>
              <a:t> PE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xử</a:t>
            </a:r>
            <a:r>
              <a:rPr lang="en-US" sz="1400" dirty="0"/>
              <a:t> </a:t>
            </a:r>
            <a:r>
              <a:rPr lang="en-US" sz="1400" dirty="0" err="1"/>
              <a:t>lí</a:t>
            </a:r>
            <a:r>
              <a:rPr lang="en-US" sz="1400" dirty="0"/>
              <a:t> </a:t>
            </a:r>
            <a:r>
              <a:rPr lang="en-US" sz="1400" dirty="0" err="1"/>
              <a:t>nhiều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tử</a:t>
            </a:r>
            <a:r>
              <a:rPr lang="en-US" sz="1400" dirty="0"/>
              <a:t> </a:t>
            </a:r>
            <a:r>
              <a:rPr lang="en-US" sz="1400" dirty="0" err="1"/>
              <a:t>cùng</a:t>
            </a:r>
            <a:r>
              <a:rPr lang="en-US" sz="1400" dirty="0"/>
              <a:t> </a:t>
            </a:r>
            <a:r>
              <a:rPr lang="en-US" sz="1400" dirty="0" err="1"/>
              <a:t>lúc</a:t>
            </a:r>
            <a:r>
              <a:rPr lang="en-US" sz="1400" dirty="0"/>
              <a:t>. =&gt; </a:t>
            </a:r>
            <a:r>
              <a:rPr lang="en-US" sz="1400" dirty="0" err="1"/>
              <a:t>Sử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r>
              <a:rPr lang="en-US" sz="1400" dirty="0"/>
              <a:t> 4 PE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tính</a:t>
            </a:r>
            <a:r>
              <a:rPr lang="en-US" sz="1400" dirty="0"/>
              <a:t> </a:t>
            </a:r>
            <a:r>
              <a:rPr lang="en-US" sz="1400" dirty="0" err="1"/>
              <a:t>toán</a:t>
            </a:r>
            <a:r>
              <a:rPr lang="en-US" sz="1400" dirty="0"/>
              <a:t> 1 </a:t>
            </a:r>
            <a:r>
              <a:rPr lang="en-US" sz="1400" dirty="0" err="1"/>
              <a:t>lần</a:t>
            </a:r>
            <a:r>
              <a:rPr lang="en-US" sz="1400" dirty="0"/>
              <a:t> </a:t>
            </a:r>
            <a:r>
              <a:rPr lang="en-US" sz="1400" dirty="0" err="1"/>
              <a:t>đủ</a:t>
            </a:r>
            <a:r>
              <a:rPr lang="en-US" sz="1400" dirty="0"/>
              <a:t> 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dài</a:t>
            </a:r>
            <a:r>
              <a:rPr lang="en-US" sz="1400" dirty="0"/>
              <a:t> vector register.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E144AA-F543-4D21-4CFB-3CE510992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10" y="3429000"/>
            <a:ext cx="4037528" cy="30288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CDF73F-EFC5-56FD-62FB-7764C43CE4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284" y="4435260"/>
            <a:ext cx="1934095" cy="1152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47544B-8CC9-58C4-D5E7-A2905CC337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8250" y="3889875"/>
            <a:ext cx="1981200" cy="270215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9DB21E-7CE4-F612-72E1-A1EE732DD405}"/>
              </a:ext>
            </a:extLst>
          </p:cNvPr>
          <p:cNvCxnSpPr/>
          <p:nvPr/>
        </p:nvCxnSpPr>
        <p:spPr>
          <a:xfrm>
            <a:off x="7213600" y="5130800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DC5BA8F-D934-862A-EE8A-6334C1DEEA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9177" y="2422740"/>
            <a:ext cx="5104414" cy="99268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9AE3E5-D491-3070-58E2-3AAB5F1D4C94}"/>
              </a:ext>
            </a:extLst>
          </p:cNvPr>
          <p:cNvCxnSpPr/>
          <p:nvPr/>
        </p:nvCxnSpPr>
        <p:spPr>
          <a:xfrm>
            <a:off x="6338235" y="2832100"/>
            <a:ext cx="5715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4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Google Shape;116;p14"/>
          <p:cNvSpPr txBox="1"/>
          <p:nvPr/>
        </p:nvSpPr>
        <p:spPr>
          <a:xfrm>
            <a:off x="1183907" y="327486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/>
              <a:t>Limitation</a:t>
            </a:r>
            <a:endParaRPr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489A777-2A82-71AF-4D4C-7A20558D9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959" y="1324996"/>
            <a:ext cx="4604430" cy="2389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1. Selected Element Width </a:t>
            </a:r>
          </a:p>
          <a:p>
            <a:pPr marL="0" indent="0">
              <a:buNone/>
            </a:pPr>
            <a:r>
              <a:rPr lang="en-US" sz="1400" dirty="0" err="1"/>
              <a:t>Đây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thông</a:t>
            </a:r>
            <a:r>
              <a:rPr lang="en-US" sz="1400" dirty="0"/>
              <a:t> </a:t>
            </a:r>
            <a:r>
              <a:rPr lang="en-US" sz="1400" dirty="0" err="1"/>
              <a:t>số</a:t>
            </a:r>
            <a:r>
              <a:rPr lang="en-US" sz="1400" dirty="0"/>
              <a:t> </a:t>
            </a:r>
            <a:r>
              <a:rPr lang="en-US" sz="1400" dirty="0" err="1"/>
              <a:t>quan</a:t>
            </a:r>
            <a:r>
              <a:rPr lang="en-US" sz="1400" dirty="0"/>
              <a:t> </a:t>
            </a:r>
            <a:r>
              <a:rPr lang="en-US" sz="1400" dirty="0" err="1"/>
              <a:t>trọng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r>
              <a:rPr lang="en-US" sz="1400" dirty="0"/>
              <a:t> </a:t>
            </a:r>
            <a:r>
              <a:rPr lang="en-US" sz="1400" dirty="0" err="1"/>
              <a:t>xác</a:t>
            </a:r>
            <a:r>
              <a:rPr lang="en-US" sz="1400" dirty="0"/>
              <a:t> </a:t>
            </a:r>
            <a:r>
              <a:rPr lang="en-US" sz="1400" dirty="0" err="1"/>
              <a:t>định</a:t>
            </a:r>
            <a:r>
              <a:rPr lang="en-US" sz="1400" dirty="0"/>
              <a:t> "</a:t>
            </a:r>
            <a:r>
              <a:rPr lang="en-US" sz="1400" dirty="0" err="1"/>
              <a:t>độ</a:t>
            </a:r>
            <a:r>
              <a:rPr lang="en-US" sz="1400" dirty="0"/>
              <a:t> </a:t>
            </a:r>
            <a:r>
              <a:rPr lang="en-US" sz="1400" dirty="0" err="1"/>
              <a:t>rộng</a:t>
            </a:r>
            <a:r>
              <a:rPr lang="en-US" sz="1400" dirty="0"/>
              <a:t>"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mỗi</a:t>
            </a:r>
            <a:r>
              <a:rPr lang="en-US" sz="1400" dirty="0"/>
              <a:t> </a:t>
            </a:r>
            <a:r>
              <a:rPr lang="en-US" sz="1400" dirty="0" err="1"/>
              <a:t>phần</a:t>
            </a:r>
            <a:r>
              <a:rPr lang="en-US" sz="1400" dirty="0"/>
              <a:t> </a:t>
            </a:r>
            <a:r>
              <a:rPr lang="en-US" sz="1400" dirty="0" err="1"/>
              <a:t>tử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bên</a:t>
            </a:r>
            <a:r>
              <a:rPr lang="en-US" sz="1400" dirty="0"/>
              <a:t> </a:t>
            </a:r>
            <a:r>
              <a:rPr lang="en-US" sz="1400" dirty="0" err="1"/>
              <a:t>trong</a:t>
            </a:r>
            <a:r>
              <a:rPr lang="en-US" sz="1400" dirty="0"/>
              <a:t>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thanh</a:t>
            </a:r>
            <a:r>
              <a:rPr lang="en-US" sz="1400" dirty="0"/>
              <a:t> </a:t>
            </a:r>
            <a:r>
              <a:rPr lang="en-US" sz="1400" dirty="0" err="1"/>
              <a:t>ghi</a:t>
            </a:r>
            <a:r>
              <a:rPr lang="en-US" sz="1400" dirty="0"/>
              <a:t> Vector </a:t>
            </a:r>
            <a:r>
              <a:rPr lang="en-US" sz="1400" dirty="0" err="1"/>
              <a:t>tại</a:t>
            </a:r>
            <a:r>
              <a:rPr lang="en-US" sz="1400" dirty="0"/>
              <a:t> </a:t>
            </a:r>
            <a:r>
              <a:rPr lang="en-US" sz="1400" dirty="0" err="1"/>
              <a:t>một</a:t>
            </a:r>
            <a:r>
              <a:rPr lang="en-US" sz="1400" dirty="0"/>
              <a:t> </a:t>
            </a:r>
            <a:r>
              <a:rPr lang="en-US" sz="1400" dirty="0" err="1"/>
              <a:t>thời</a:t>
            </a:r>
            <a:r>
              <a:rPr lang="en-US" sz="1400" dirty="0"/>
              <a:t> </a:t>
            </a:r>
            <a:r>
              <a:rPr lang="en-US" sz="1400" dirty="0" err="1"/>
              <a:t>điểm</a:t>
            </a:r>
            <a:r>
              <a:rPr lang="en-US" sz="1400" dirty="0"/>
              <a:t> </a:t>
            </a:r>
            <a:r>
              <a:rPr lang="en-US" sz="1400" dirty="0" err="1"/>
              <a:t>nhất</a:t>
            </a:r>
            <a:r>
              <a:rPr lang="en-US" sz="1400" dirty="0"/>
              <a:t> </a:t>
            </a:r>
            <a:r>
              <a:rPr lang="en-US" sz="1400" dirty="0" err="1"/>
              <a:t>định</a:t>
            </a:r>
            <a:r>
              <a:rPr lang="en-US" sz="1400" dirty="0"/>
              <a:t>. </a:t>
            </a:r>
            <a:r>
              <a:rPr lang="en-US" sz="1400" dirty="0" err="1"/>
              <a:t>Thiếu</a:t>
            </a:r>
            <a:r>
              <a:rPr lang="en-US" sz="1400" dirty="0"/>
              <a:t> </a:t>
            </a:r>
            <a:r>
              <a:rPr lang="en-US" sz="1400" dirty="0" err="1"/>
              <a:t>đi</a:t>
            </a:r>
            <a:r>
              <a:rPr lang="en-US" sz="1400" dirty="0"/>
              <a:t> </a:t>
            </a:r>
            <a:r>
              <a:rPr lang="en-US" sz="1400" dirty="0" err="1"/>
              <a:t>sự</a:t>
            </a:r>
            <a:r>
              <a:rPr lang="en-US" sz="1400" dirty="0"/>
              <a:t> </a:t>
            </a:r>
            <a:r>
              <a:rPr lang="en-US" sz="1400" dirty="0" err="1"/>
              <a:t>linh</a:t>
            </a:r>
            <a:r>
              <a:rPr lang="en-US" sz="1400" dirty="0"/>
              <a:t> </a:t>
            </a:r>
            <a:r>
              <a:rPr lang="en-US" sz="1400" dirty="0" err="1"/>
              <a:t>hoạt</a:t>
            </a:r>
            <a:r>
              <a:rPr lang="en-US" sz="1400" dirty="0"/>
              <a:t> </a:t>
            </a:r>
            <a:r>
              <a:rPr lang="en-US" sz="1400" dirty="0" err="1"/>
              <a:t>với</a:t>
            </a:r>
            <a:r>
              <a:rPr lang="en-US" sz="1400" dirty="0"/>
              <a:t> </a:t>
            </a:r>
            <a:r>
              <a:rPr lang="en-US" sz="1400" dirty="0" err="1"/>
              <a:t>các</a:t>
            </a:r>
            <a:r>
              <a:rPr lang="en-US" sz="1400" dirty="0"/>
              <a:t> </a:t>
            </a:r>
            <a:r>
              <a:rPr lang="en-US" sz="1400" dirty="0" err="1"/>
              <a:t>bài</a:t>
            </a:r>
            <a:r>
              <a:rPr lang="en-US" sz="1400" dirty="0"/>
              <a:t> </a:t>
            </a:r>
            <a:r>
              <a:rPr lang="en-US" sz="1400" dirty="0" err="1"/>
              <a:t>toán</a:t>
            </a:r>
            <a:r>
              <a:rPr lang="en-US" sz="1400" dirty="0"/>
              <a:t> vector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400" dirty="0"/>
              <a:t>SEW </a:t>
            </a:r>
            <a:r>
              <a:rPr lang="en-US" sz="1400" dirty="0" err="1"/>
              <a:t>chính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tín</a:t>
            </a:r>
            <a:r>
              <a:rPr lang="en-US" sz="1400" dirty="0"/>
              <a:t> </a:t>
            </a:r>
            <a:r>
              <a:rPr lang="en-US" sz="1400" dirty="0" err="1"/>
              <a:t>hiệu</a:t>
            </a:r>
            <a:r>
              <a:rPr lang="en-US" sz="1400" dirty="0"/>
              <a:t> </a:t>
            </a:r>
            <a:r>
              <a:rPr lang="en-US" sz="1400" dirty="0" err="1"/>
              <a:t>điều</a:t>
            </a:r>
            <a:r>
              <a:rPr lang="en-US" sz="1400" dirty="0"/>
              <a:t> </a:t>
            </a:r>
            <a:r>
              <a:rPr lang="en-US" sz="1400" dirty="0" err="1"/>
              <a:t>khiển</a:t>
            </a:r>
            <a:r>
              <a:rPr lang="en-US" sz="1400" dirty="0"/>
              <a:t> </a:t>
            </a:r>
            <a:r>
              <a:rPr lang="en-US" sz="1400" dirty="0" err="1"/>
              <a:t>cốt</a:t>
            </a:r>
            <a:r>
              <a:rPr lang="en-US" sz="1400" dirty="0"/>
              <a:t> </a:t>
            </a:r>
            <a:r>
              <a:rPr lang="en-US" sz="1400" dirty="0" err="1"/>
              <a:t>lõi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bộ</a:t>
            </a:r>
            <a:r>
              <a:rPr lang="en-US" sz="1400" dirty="0"/>
              <a:t> PE </a:t>
            </a:r>
            <a:r>
              <a:rPr lang="en-US" sz="1400" dirty="0" err="1"/>
              <a:t>của</a:t>
            </a:r>
            <a:r>
              <a:rPr lang="en-US" sz="1400" dirty="0"/>
              <a:t> </a:t>
            </a:r>
            <a:r>
              <a:rPr lang="en-US" sz="1400" dirty="0" err="1"/>
              <a:t>bạn</a:t>
            </a:r>
            <a:r>
              <a:rPr lang="en-US" sz="1400" dirty="0"/>
              <a:t> </a:t>
            </a:r>
            <a:r>
              <a:rPr lang="en-US" sz="1400" dirty="0" err="1"/>
              <a:t>biết</a:t>
            </a:r>
            <a:r>
              <a:rPr lang="en-US" sz="1400" dirty="0"/>
              <a:t> </a:t>
            </a:r>
            <a:r>
              <a:rPr lang="en-US" sz="1400" dirty="0" err="1"/>
              <a:t>phải</a:t>
            </a:r>
            <a:r>
              <a:rPr lang="en-US" sz="1400" dirty="0"/>
              <a:t> "</a:t>
            </a:r>
            <a:r>
              <a:rPr lang="en-US" sz="1400" dirty="0" err="1"/>
              <a:t>nhìn</a:t>
            </a:r>
            <a:r>
              <a:rPr lang="en-US" sz="1400" dirty="0"/>
              <a:t>" </a:t>
            </a:r>
            <a:r>
              <a:rPr lang="en-US" sz="1400" dirty="0" err="1"/>
              <a:t>dãy</a:t>
            </a:r>
            <a:r>
              <a:rPr lang="en-US" sz="1400" dirty="0"/>
              <a:t> bit </a:t>
            </a:r>
            <a:r>
              <a:rPr lang="en-US" sz="1400" dirty="0" err="1"/>
              <a:t>trong</a:t>
            </a:r>
            <a:r>
              <a:rPr lang="en-US" sz="1400" dirty="0"/>
              <a:t> </a:t>
            </a:r>
            <a:r>
              <a:rPr lang="en-US" sz="1400" dirty="0" err="1"/>
              <a:t>thanh</a:t>
            </a:r>
            <a:r>
              <a:rPr lang="en-US" sz="1400" dirty="0"/>
              <a:t> </a:t>
            </a:r>
            <a:r>
              <a:rPr lang="en-US" sz="1400" dirty="0" err="1"/>
              <a:t>ghi</a:t>
            </a:r>
            <a:r>
              <a:rPr lang="en-US" sz="1400" dirty="0"/>
              <a:t> </a:t>
            </a:r>
            <a:r>
              <a:rPr lang="en-US" sz="1400" dirty="0" err="1"/>
              <a:t>theo</a:t>
            </a:r>
            <a:r>
              <a:rPr lang="en-US" sz="1400" dirty="0"/>
              <a:t> </a:t>
            </a:r>
            <a:r>
              <a:rPr lang="en-US" sz="1400" dirty="0" err="1"/>
              <a:t>cách</a:t>
            </a:r>
            <a:r>
              <a:rPr lang="en-US" sz="1400" dirty="0"/>
              <a:t> </a:t>
            </a:r>
            <a:r>
              <a:rPr lang="en-US" sz="1400" dirty="0" err="1"/>
              <a:t>nào</a:t>
            </a:r>
            <a:r>
              <a:rPr lang="en-US" sz="1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011A1-9579-68EE-4B2E-C12A9D7B0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09" y="4770897"/>
            <a:ext cx="8449854" cy="15242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925510-C2D1-9359-AA8B-52F21D5ADC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819" y="3728185"/>
            <a:ext cx="9754961" cy="514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B9370DC-F93C-D64C-93E2-65CDE5E9596D}"/>
              </a:ext>
            </a:extLst>
          </p:cNvPr>
          <p:cNvSpPr txBox="1"/>
          <p:nvPr/>
        </p:nvSpPr>
        <p:spPr>
          <a:xfrm>
            <a:off x="1928812" y="4322086"/>
            <a:ext cx="7939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Sew </a:t>
            </a:r>
            <a:r>
              <a:rPr lang="en-US" b="1" dirty="0" err="1">
                <a:solidFill>
                  <a:srgbClr val="FF0000"/>
                </a:solidFill>
              </a:rPr>
              <a:t>được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xác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định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từ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dữ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liệu</a:t>
            </a:r>
            <a:r>
              <a:rPr lang="en-US" b="1" dirty="0">
                <a:solidFill>
                  <a:srgbClr val="FF0000"/>
                </a:solidFill>
              </a:rPr>
              <a:t> config </a:t>
            </a:r>
            <a:r>
              <a:rPr lang="en-US" b="1" dirty="0" err="1">
                <a:solidFill>
                  <a:srgbClr val="FF0000"/>
                </a:solidFill>
              </a:rPr>
              <a:t>được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chốt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tại</a:t>
            </a:r>
            <a:r>
              <a:rPr lang="en-US" b="1" dirty="0">
                <a:solidFill>
                  <a:srgbClr val="FF0000"/>
                </a:solidFill>
              </a:rPr>
              <a:t> CSRs </a:t>
            </a:r>
            <a:r>
              <a:rPr lang="en-US" b="1" dirty="0" err="1">
                <a:solidFill>
                  <a:srgbClr val="FF0000"/>
                </a:solidFill>
              </a:rPr>
              <a:t>sau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lệnh</a:t>
            </a:r>
            <a:r>
              <a:rPr lang="en-US" b="1" dirty="0">
                <a:solidFill>
                  <a:srgbClr val="FF0000"/>
                </a:solidFill>
              </a:rPr>
              <a:t>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4CF860-9B6E-4F54-CE06-FBD7DF301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66" y="1322354"/>
            <a:ext cx="6399790" cy="5121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782" y="-144464"/>
            <a:ext cx="10515600" cy="1325563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Processing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2256" y="1253330"/>
            <a:ext cx="4604430" cy="5147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PE</a:t>
            </a:r>
          </a:p>
          <a:p>
            <a:pPr marL="0" indent="0">
              <a:buNone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chi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tiết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ALU 32-bit.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8/16/32 bit.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PE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bao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Tx/>
              <a:buChar char="-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Cộng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trừ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Logic 32 bit bao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gồm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AND/OR/XOR</a:t>
            </a:r>
          </a:p>
          <a:p>
            <a:pPr>
              <a:buFontTx/>
              <a:buChar char="-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bit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trái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dấu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ADDSUB, MULTIPLIER, SHIFTER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BRU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dựa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sew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result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nhỏ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" y="-3209"/>
            <a:ext cx="1302618" cy="1184308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CECBC3B-904F-1E1D-91FA-037AB774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58" y="4900956"/>
            <a:ext cx="6200742" cy="111884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0B697B-B3B6-3CBD-174C-52EECF4D67CE}"/>
              </a:ext>
            </a:extLst>
          </p:cNvPr>
          <p:cNvCxnSpPr>
            <a:cxnSpLocks/>
          </p:cNvCxnSpPr>
          <p:nvPr/>
        </p:nvCxnSpPr>
        <p:spPr>
          <a:xfrm>
            <a:off x="6191250" y="5289550"/>
            <a:ext cx="5880100" cy="17082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80D7D3-C86C-09FF-2050-5AC666D17A7B}"/>
              </a:ext>
            </a:extLst>
          </p:cNvPr>
          <p:cNvCxnSpPr/>
          <p:nvPr/>
        </p:nvCxnSpPr>
        <p:spPr>
          <a:xfrm flipV="1">
            <a:off x="6191250" y="5289550"/>
            <a:ext cx="5880100" cy="17082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Google Shape;102;p14"/>
          <p:cNvSpPr txBox="1"/>
          <p:nvPr/>
        </p:nvSpPr>
        <p:spPr>
          <a:xfrm>
            <a:off x="622697" y="1374267"/>
            <a:ext cx="56507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Cơ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chế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lệnh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cấu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hình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(Configuration instruction)</a:t>
            </a:r>
            <a:endParaRPr sz="2000" dirty="0"/>
          </a:p>
        </p:txBody>
      </p:sp>
      <p:sp>
        <p:nvSpPr>
          <p:cNvPr id="10" name="Google Shape;103;p14"/>
          <p:cNvSpPr txBox="1"/>
          <p:nvPr/>
        </p:nvSpPr>
        <p:spPr>
          <a:xfrm>
            <a:off x="476249" y="1751586"/>
            <a:ext cx="1101631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00" dirty="0" err="1"/>
              <a:t>Lệnh</a:t>
            </a:r>
            <a:r>
              <a:rPr lang="en-US" sz="1600" dirty="0"/>
              <a:t> </a:t>
            </a:r>
            <a:r>
              <a:rPr lang="en-US" dirty="0" err="1"/>
              <a:t>vsetvli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vsetvl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toán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đóng</a:t>
            </a:r>
            <a:r>
              <a:rPr lang="en-US" sz="1600" dirty="0"/>
              <a:t> </a:t>
            </a:r>
            <a:r>
              <a:rPr lang="en-US" sz="1600" dirty="0" err="1"/>
              <a:t>vai</a:t>
            </a:r>
            <a:r>
              <a:rPr lang="en-US" sz="1600" dirty="0"/>
              <a:t> </a:t>
            </a:r>
            <a:r>
              <a:rPr lang="en-US" sz="1600" dirty="0" err="1"/>
              <a:t>trò</a:t>
            </a:r>
            <a:r>
              <a:rPr lang="en-US" sz="1600" dirty="0"/>
              <a:t> </a:t>
            </a:r>
            <a:r>
              <a:rPr lang="en-US" sz="1600" b="1" dirty="0" err="1"/>
              <a:t>thiết</a:t>
            </a:r>
            <a:r>
              <a:rPr lang="en-US" sz="1600" b="1" dirty="0"/>
              <a:t> </a:t>
            </a:r>
            <a:r>
              <a:rPr lang="en-US" sz="1600" b="1" dirty="0" err="1"/>
              <a:t>lập</a:t>
            </a:r>
            <a:r>
              <a:rPr lang="en-US" sz="1600" b="1" dirty="0"/>
              <a:t> </a:t>
            </a:r>
            <a:r>
              <a:rPr lang="en-US" sz="1600" b="1" dirty="0" err="1"/>
              <a:t>trạng</a:t>
            </a:r>
            <a:r>
              <a:rPr lang="en-US" sz="1600" b="1" dirty="0"/>
              <a:t> </a:t>
            </a:r>
            <a:r>
              <a:rPr lang="en-US" sz="1600" b="1" dirty="0" err="1"/>
              <a:t>thái</a:t>
            </a:r>
            <a:r>
              <a:rPr lang="en-US" sz="1600" b="1" dirty="0"/>
              <a:t> </a:t>
            </a:r>
            <a:r>
              <a:rPr lang="en-US" sz="1600" b="1" dirty="0" err="1"/>
              <a:t>thực</a:t>
            </a:r>
            <a:r>
              <a:rPr lang="en-US" sz="1600" b="1" dirty="0"/>
              <a:t> </a:t>
            </a:r>
            <a:r>
              <a:rPr lang="en-US" sz="1600" b="1" dirty="0" err="1"/>
              <a:t>thi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toàn</a:t>
            </a:r>
            <a:r>
              <a:rPr lang="en-US" sz="1600" dirty="0"/>
              <a:t> </a:t>
            </a:r>
            <a:r>
              <a:rPr lang="en-US" sz="1600" dirty="0" err="1"/>
              <a:t>bộ</a:t>
            </a:r>
            <a:r>
              <a:rPr lang="en-US" sz="1600" dirty="0"/>
              <a:t> VPU</a:t>
            </a:r>
            <a:endParaRPr lang="en-US" sz="1500" b="0" i="0" u="none" strike="noStrike" cap="none" dirty="0">
              <a:solidFill>
                <a:srgbClr val="1E293B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" name="Google Shape;109;p14"/>
          <p:cNvSpPr txBox="1"/>
          <p:nvPr/>
        </p:nvSpPr>
        <p:spPr>
          <a:xfrm>
            <a:off x="762000" y="2215398"/>
            <a:ext cx="5334000" cy="837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Chức</a:t>
            </a:r>
            <a:r>
              <a:rPr lang="en-US" sz="1500" b="1" dirty="0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năng</a:t>
            </a:r>
            <a:r>
              <a:rPr lang="en-US" sz="1500" b="1" dirty="0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thanh</a:t>
            </a:r>
            <a:r>
              <a:rPr lang="en-US" sz="1600" dirty="0"/>
              <a:t> </a:t>
            </a:r>
            <a:r>
              <a:rPr lang="en-US" sz="1600" dirty="0" err="1"/>
              <a:t>ghi</a:t>
            </a:r>
            <a:r>
              <a:rPr lang="en-US" sz="1600" dirty="0"/>
              <a:t> CSR (</a:t>
            </a:r>
            <a:r>
              <a:rPr lang="en-US" dirty="0" err="1"/>
              <a:t>vtype</a:t>
            </a:r>
            <a:r>
              <a:rPr lang="en-US" sz="1600" dirty="0"/>
              <a:t>, </a:t>
            </a:r>
            <a:r>
              <a:rPr lang="en-US" dirty="0" err="1"/>
              <a:t>vl</a:t>
            </a:r>
            <a:r>
              <a:rPr lang="en-US" sz="1600" dirty="0"/>
              <a:t>)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chu </a:t>
            </a:r>
            <a:r>
              <a:rPr lang="en-US" sz="1600" dirty="0" err="1"/>
              <a:t>kỳ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.</a:t>
            </a:r>
            <a:endParaRPr dirty="0"/>
          </a:p>
        </p:txBody>
      </p:sp>
      <p:sp>
        <p:nvSpPr>
          <p:cNvPr id="26" name="Google Shape;116;p14"/>
          <p:cNvSpPr txBox="1"/>
          <p:nvPr/>
        </p:nvSpPr>
        <p:spPr>
          <a:xfrm>
            <a:off x="1183907" y="286552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/>
              <a:t>VPU core</a:t>
            </a:r>
            <a:endParaRPr dirty="0"/>
          </a:p>
        </p:txBody>
      </p:sp>
      <p:sp>
        <p:nvSpPr>
          <p:cNvPr id="27" name="Google Shape;117;p14"/>
          <p:cNvSpPr/>
          <p:nvPr/>
        </p:nvSpPr>
        <p:spPr>
          <a:xfrm>
            <a:off x="485775" y="1266825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" name="Google Shape;11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775" y="238419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9;p14">
            <a:extLst>
              <a:ext uri="{FF2B5EF4-FFF2-40B4-BE49-F238E27FC236}">
                <a16:creationId xmlns:a16="http://schemas.microsoft.com/office/drawing/2014/main" id="{40039747-FF90-A052-F4F1-7AB3A795B56A}"/>
              </a:ext>
            </a:extLst>
          </p:cNvPr>
          <p:cNvSpPr txBox="1"/>
          <p:nvPr/>
        </p:nvSpPr>
        <p:spPr>
          <a:xfrm>
            <a:off x="762000" y="3010424"/>
            <a:ext cx="5334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 err="1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Tác</a:t>
            </a:r>
            <a:r>
              <a:rPr lang="en-US" sz="1500" b="1" dirty="0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động</a:t>
            </a:r>
            <a:r>
              <a:rPr lang="en-US" sz="1500" b="1" dirty="0">
                <a:solidFill>
                  <a:srgbClr val="1E293B"/>
                </a:solidFill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lang="en-US" sz="1600" dirty="0"/>
              <a:t>Thay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tức</a:t>
            </a:r>
            <a:r>
              <a:rPr lang="en-US" sz="1600" dirty="0"/>
              <a:t> </a:t>
            </a:r>
            <a:r>
              <a:rPr lang="en-US" sz="1600" dirty="0" err="1"/>
              <a:t>thì</a:t>
            </a:r>
            <a:r>
              <a:rPr lang="en-US" sz="1600" dirty="0"/>
              <a:t> </a:t>
            </a:r>
            <a:r>
              <a:rPr lang="en-US" sz="1600" dirty="0" err="1"/>
              <a:t>cách</a:t>
            </a:r>
            <a:r>
              <a:rPr lang="en-US" sz="1600" dirty="0"/>
              <a:t> PE </a:t>
            </a:r>
            <a:r>
              <a:rPr lang="en-US" sz="1600" dirty="0" err="1"/>
              <a:t>nhìn</a:t>
            </a:r>
            <a:r>
              <a:rPr lang="en-US" sz="1600" dirty="0"/>
              <a:t> </a:t>
            </a: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(8/16/32-bit)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lượng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</a:t>
            </a:r>
            <a:r>
              <a:rPr lang="en-US" sz="1600" dirty="0" err="1"/>
              <a:t>tử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lí</a:t>
            </a:r>
            <a:endParaRPr dirty="0"/>
          </a:p>
        </p:txBody>
      </p:sp>
      <p:pic>
        <p:nvPicPr>
          <p:cNvPr id="3" name="Google Shape;119;p14" descr="image.png">
            <a:extLst>
              <a:ext uri="{FF2B5EF4-FFF2-40B4-BE49-F238E27FC236}">
                <a16:creationId xmlns:a16="http://schemas.microsoft.com/office/drawing/2014/main" id="{D48776FB-7908-F2C1-8FD3-FDBA926F6132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85775" y="317922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DA96C-60DF-384A-5437-D73030F241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882" y="3993199"/>
            <a:ext cx="9745435" cy="600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F44F82-FEE7-B141-F79C-F9D28737B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882" y="5596747"/>
            <a:ext cx="9793067" cy="581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6EE43A-78B0-30ED-E8E1-CD1EE9CBC0D8}"/>
              </a:ext>
            </a:extLst>
          </p:cNvPr>
          <p:cNvSpPr txBox="1"/>
          <p:nvPr/>
        </p:nvSpPr>
        <p:spPr>
          <a:xfrm>
            <a:off x="2336803" y="4432389"/>
            <a:ext cx="80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VTYPE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B6A80B-65FB-3B25-A3B0-D48A46CCBAED}"/>
              </a:ext>
            </a:extLst>
          </p:cNvPr>
          <p:cNvSpPr txBox="1"/>
          <p:nvPr/>
        </p:nvSpPr>
        <p:spPr>
          <a:xfrm>
            <a:off x="3429000" y="5993187"/>
            <a:ext cx="80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VTYPE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012501-6A61-707E-F368-477BA6D437BB}"/>
              </a:ext>
            </a:extLst>
          </p:cNvPr>
          <p:cNvSpPr txBox="1"/>
          <p:nvPr/>
        </p:nvSpPr>
        <p:spPr>
          <a:xfrm>
            <a:off x="4983168" y="4432389"/>
            <a:ext cx="80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AVL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4BBB3-A1AD-F5D8-206D-FA0509D16E21}"/>
              </a:ext>
            </a:extLst>
          </p:cNvPr>
          <p:cNvSpPr txBox="1"/>
          <p:nvPr/>
        </p:nvSpPr>
        <p:spPr>
          <a:xfrm>
            <a:off x="4989517" y="5993187"/>
            <a:ext cx="800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AVL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9F0DC-4551-1E9B-D906-93EEDE0508BF}"/>
              </a:ext>
            </a:extLst>
          </p:cNvPr>
          <p:cNvSpPr txBox="1"/>
          <p:nvPr/>
        </p:nvSpPr>
        <p:spPr>
          <a:xfrm>
            <a:off x="7182533" y="4408692"/>
            <a:ext cx="990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1E293B"/>
                </a:solidFill>
                <a:latin typeface="Manrope"/>
                <a:sym typeface="Manrope"/>
              </a:rPr>
              <a:t>newVL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86443B-4081-3F94-6865-3404DDE05346}"/>
              </a:ext>
            </a:extLst>
          </p:cNvPr>
          <p:cNvSpPr txBox="1"/>
          <p:nvPr/>
        </p:nvSpPr>
        <p:spPr>
          <a:xfrm>
            <a:off x="7265083" y="5993187"/>
            <a:ext cx="990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1E293B"/>
                </a:solidFill>
                <a:latin typeface="Manrope"/>
                <a:sym typeface="Manrope"/>
              </a:rPr>
              <a:t>newVL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6680-5302-ACAD-DA75-5E83407E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5B32F-66BF-AA44-DD26-677A05AB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3782" y="-144464"/>
            <a:ext cx="10515600" cy="1325563"/>
          </a:xfrm>
        </p:spPr>
        <p:txBody>
          <a:bodyPr/>
          <a:lstStyle/>
          <a:p>
            <a:r>
              <a:rPr lang="en-US" b="1" dirty="0"/>
              <a:t>Control and Status Register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DB75F5-4D57-B8C0-BB97-0015A139E4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" y="-3209"/>
            <a:ext cx="1302618" cy="118430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02ED84-8066-8BB4-1641-7595C1068924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62B98F8-6E7E-BAB7-6D93-DB53E7E3C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1322354"/>
            <a:ext cx="4677260" cy="15056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B73B5A-27E9-A3E8-F78E-5CBA67AD4EE5}"/>
              </a:ext>
            </a:extLst>
          </p:cNvPr>
          <p:cNvSpPr/>
          <p:nvPr/>
        </p:nvSpPr>
        <p:spPr>
          <a:xfrm>
            <a:off x="425450" y="2247900"/>
            <a:ext cx="4787900" cy="580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97E410-1CDA-7A25-24B0-54FC5D0735A6}"/>
              </a:ext>
            </a:extLst>
          </p:cNvPr>
          <p:cNvSpPr txBox="1"/>
          <p:nvPr/>
        </p:nvSpPr>
        <p:spPr>
          <a:xfrm>
            <a:off x="425450" y="6012132"/>
            <a:ext cx="81378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VLNEW = AVL – VLMAX</a:t>
            </a:r>
          </a:p>
          <a:p>
            <a:r>
              <a:rPr lang="en-US" b="1" dirty="0">
                <a:solidFill>
                  <a:srgbClr val="1E293B"/>
                </a:solidFill>
                <a:latin typeface="Manrope"/>
                <a:sym typeface="Manrope"/>
              </a:rPr>
              <a:t>VLMAX = VLEN/SEW * LMUL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14CA2A-162F-DF4F-29E1-2EFFA5473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10" y="3411467"/>
            <a:ext cx="6026150" cy="2124179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999A842-5165-81D8-0859-3A3ED9860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1582" y="1272902"/>
            <a:ext cx="5257800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Sơ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đồ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Luồng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Điều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khiển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(Control Flow)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Input: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Lệnh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từ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Scalar Core -&gt;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Decoder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Decoder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trích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xuất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AVL (Application Vector Length)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Output: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*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giá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trị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thanh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thường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avl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&lt;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&lt;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vlmax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cấu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hình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thanh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Phát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hiệu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điều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khiển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(Control Signals)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tới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 Array.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Google Shape;117;p14">
            <a:extLst>
              <a:ext uri="{FF2B5EF4-FFF2-40B4-BE49-F238E27FC236}">
                <a16:creationId xmlns:a16="http://schemas.microsoft.com/office/drawing/2014/main" id="{76ADA2A3-EFE9-C053-9E67-6D43551A9642}"/>
              </a:ext>
            </a:extLst>
          </p:cNvPr>
          <p:cNvSpPr/>
          <p:nvPr/>
        </p:nvSpPr>
        <p:spPr>
          <a:xfrm>
            <a:off x="6533482" y="1239289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1FA8AC-7598-68C7-3E1C-B766F4B7D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960" y="4073101"/>
            <a:ext cx="5671373" cy="15119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2257192-E3C9-2F30-05FE-FE9A9B75A1F0}"/>
              </a:ext>
            </a:extLst>
          </p:cNvPr>
          <p:cNvSpPr/>
          <p:nvPr/>
        </p:nvSpPr>
        <p:spPr>
          <a:xfrm>
            <a:off x="6467959" y="4880574"/>
            <a:ext cx="5671373" cy="704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04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4C81-5D62-CA2F-83B3-0C1084DF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EB07F3-5178-E43E-6244-3325D91A14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A188F9-DC1F-A21B-56F9-5D6649A2FFC4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Google Shape;102;p14">
            <a:extLst>
              <a:ext uri="{FF2B5EF4-FFF2-40B4-BE49-F238E27FC236}">
                <a16:creationId xmlns:a16="http://schemas.microsoft.com/office/drawing/2014/main" id="{3547D6BB-D6E9-0EF8-F0D0-22418EE796AA}"/>
              </a:ext>
            </a:extLst>
          </p:cNvPr>
          <p:cNvSpPr txBox="1"/>
          <p:nvPr/>
        </p:nvSpPr>
        <p:spPr>
          <a:xfrm>
            <a:off x="622697" y="1374267"/>
            <a:ext cx="565070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3.1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Thách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thức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khi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tích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hợp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CSR (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vl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/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vtype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)</a:t>
            </a:r>
          </a:p>
          <a:p>
            <a:pPr lvl="0"/>
            <a:endParaRPr sz="2000" dirty="0"/>
          </a:p>
        </p:txBody>
      </p:sp>
      <p:sp>
        <p:nvSpPr>
          <p:cNvPr id="26" name="Google Shape;116;p14">
            <a:extLst>
              <a:ext uri="{FF2B5EF4-FFF2-40B4-BE49-F238E27FC236}">
                <a16:creationId xmlns:a16="http://schemas.microsoft.com/office/drawing/2014/main" id="{0E256FE4-C2C3-83B2-D9C1-8F3FF1402CBE}"/>
              </a:ext>
            </a:extLst>
          </p:cNvPr>
          <p:cNvSpPr txBox="1"/>
          <p:nvPr/>
        </p:nvSpPr>
        <p:spPr>
          <a:xfrm>
            <a:off x="1183907" y="286552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 err="1"/>
              <a:t>Tối</a:t>
            </a:r>
            <a:r>
              <a:rPr lang="en-US" sz="3600" b="1" dirty="0"/>
              <a:t> </a:t>
            </a:r>
            <a:r>
              <a:rPr lang="en-US" sz="3600" b="1" dirty="0" err="1"/>
              <a:t>ưu</a:t>
            </a:r>
            <a:r>
              <a:rPr lang="en-US" sz="3600" b="1" dirty="0"/>
              <a:t> </a:t>
            </a:r>
            <a:r>
              <a:rPr lang="en-US" sz="3600" b="1" dirty="0" err="1"/>
              <a:t>hóa</a:t>
            </a:r>
            <a:r>
              <a:rPr lang="en-US" sz="3600" b="1" dirty="0"/>
              <a:t> FSM</a:t>
            </a:r>
            <a:endParaRPr dirty="0"/>
          </a:p>
        </p:txBody>
      </p:sp>
      <p:sp>
        <p:nvSpPr>
          <p:cNvPr id="27" name="Google Shape;117;p14">
            <a:extLst>
              <a:ext uri="{FF2B5EF4-FFF2-40B4-BE49-F238E27FC236}">
                <a16:creationId xmlns:a16="http://schemas.microsoft.com/office/drawing/2014/main" id="{CA7FE57B-7173-9D51-1621-C08C2C71EBE3}"/>
              </a:ext>
            </a:extLst>
          </p:cNvPr>
          <p:cNvSpPr/>
          <p:nvPr/>
        </p:nvSpPr>
        <p:spPr>
          <a:xfrm>
            <a:off x="485775" y="1266825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1864B-CDB6-D5A7-3B7A-3B3111FD2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97" y="4037522"/>
            <a:ext cx="3508375" cy="23698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42E7CE-4F8C-2B3E-7287-6387F5D24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724" y="3877823"/>
            <a:ext cx="2975453" cy="26746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34F936-9FCC-9E42-1BF4-505A4B376ED1}"/>
              </a:ext>
            </a:extLst>
          </p:cNvPr>
          <p:cNvSpPr txBox="1"/>
          <p:nvPr/>
        </p:nvSpPr>
        <p:spPr>
          <a:xfrm>
            <a:off x="1676511" y="6367768"/>
            <a:ext cx="2052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E293B"/>
                </a:solidFill>
                <a:latin typeface="Manrope"/>
                <a:sym typeface="Manrope"/>
              </a:rPr>
              <a:t>State Diagram </a:t>
            </a:r>
            <a:r>
              <a:rPr lang="en-US" sz="1800" b="1" dirty="0" err="1">
                <a:solidFill>
                  <a:srgbClr val="1E293B"/>
                </a:solidFill>
                <a:latin typeface="Manrope"/>
                <a:sym typeface="Manrope"/>
              </a:rPr>
              <a:t>cũ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70EBE7-83CA-6095-1C47-3854CF4E84B8}"/>
              </a:ext>
            </a:extLst>
          </p:cNvPr>
          <p:cNvSpPr txBox="1"/>
          <p:nvPr/>
        </p:nvSpPr>
        <p:spPr>
          <a:xfrm>
            <a:off x="6391277" y="6367768"/>
            <a:ext cx="2052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E293B"/>
                </a:solidFill>
                <a:latin typeface="Manrope"/>
                <a:sym typeface="Manrope"/>
              </a:rPr>
              <a:t>State Diagram </a:t>
            </a:r>
            <a:r>
              <a:rPr lang="en-US" sz="1800" b="1" dirty="0" err="1">
                <a:solidFill>
                  <a:srgbClr val="1E293B"/>
                </a:solidFill>
                <a:latin typeface="Manrope"/>
                <a:sym typeface="Manrope"/>
              </a:rPr>
              <a:t>mới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10F457-278E-4173-AAB4-C9891D950A6F}"/>
              </a:ext>
            </a:extLst>
          </p:cNvPr>
          <p:cNvSpPr txBox="1"/>
          <p:nvPr/>
        </p:nvSpPr>
        <p:spPr>
          <a:xfrm>
            <a:off x="435086" y="1865111"/>
            <a:ext cx="64484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vi-VN" sz="1400" dirty="0"/>
              <a:t>Trước khi tích hợp CSR, FSM thường hoạt động với số chu kỳ cố định. Khi có </a:t>
            </a:r>
            <a:r>
              <a:rPr lang="vi-VN" sz="1400" dirty="0">
                <a:latin typeface="Courier New" panose="02070309020205020404" pitchFamily="49" charset="0"/>
              </a:rPr>
              <a:t>vl</a:t>
            </a:r>
            <a:r>
              <a:rPr lang="vi-VN" sz="1400" dirty="0"/>
              <a:t> và </a:t>
            </a:r>
            <a:r>
              <a:rPr lang="vi-VN" sz="1400" dirty="0">
                <a:latin typeface="Courier New" panose="02070309020205020404" pitchFamily="49" charset="0"/>
              </a:rPr>
              <a:t>SEW</a:t>
            </a:r>
            <a:r>
              <a:rPr lang="vi-VN" sz="1400" dirty="0"/>
              <a:t>, FSM phải đối mặt với:</a:t>
            </a:r>
            <a:endParaRPr lang="en-US" sz="1400" dirty="0"/>
          </a:p>
          <a:p>
            <a:pPr>
              <a:buNone/>
            </a:pPr>
            <a:endParaRPr lang="vi-V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vi-VN" sz="1400" b="1" dirty="0"/>
              <a:t>Khối lượng dữ liệu thay đổi:</a:t>
            </a:r>
            <a:r>
              <a:rPr lang="vi-VN" sz="1400" dirty="0"/>
              <a:t> Tổng số bit xử lý có thể lên tới 128-bit hoặc hơn tùy vào cấu hình.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vi-V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vi-VN" sz="1400" b="1" dirty="0"/>
              <a:t>Tín hiệu Done không cố định:</a:t>
            </a:r>
            <a:r>
              <a:rPr lang="vi-VN" sz="1400" dirty="0"/>
              <a:t> Thời điểm kết thúc lệnh phụ thuộc vào việc đã xử lý hết </a:t>
            </a:r>
            <a:r>
              <a:rPr lang="vi-VN" sz="1400" dirty="0">
                <a:latin typeface="Courier New" panose="02070309020205020404" pitchFamily="49" charset="0"/>
              </a:rPr>
              <a:t>vl</a:t>
            </a:r>
            <a:r>
              <a:rPr lang="vi-VN" sz="1400" dirty="0"/>
              <a:t> phần tử hay chưa, thay vì đếm số chu kỳ cố định.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2C2D16-FD0D-E91D-B6E6-264EABC4401F}"/>
              </a:ext>
            </a:extLst>
          </p:cNvPr>
          <p:cNvSpPr txBox="1"/>
          <p:nvPr/>
        </p:nvSpPr>
        <p:spPr>
          <a:xfrm>
            <a:off x="7588251" y="2130166"/>
            <a:ext cx="449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VD: sew = 16b, </a:t>
            </a:r>
            <a:r>
              <a:rPr lang="en-US" sz="1800" dirty="0" err="1"/>
              <a:t>lmul</a:t>
            </a:r>
            <a:r>
              <a:rPr lang="en-US" sz="1800" dirty="0"/>
              <a:t> = 3, </a:t>
            </a:r>
            <a:r>
              <a:rPr lang="en-US" sz="1800" dirty="0" err="1"/>
              <a:t>avl</a:t>
            </a:r>
            <a:r>
              <a:rPr lang="en-US" sz="1800" dirty="0"/>
              <a:t> = 19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err="1"/>
              <a:t>Vlmax</a:t>
            </a:r>
            <a:r>
              <a:rPr lang="en-US" dirty="0"/>
              <a:t> = (128*4)/16 = 32 &gt; </a:t>
            </a:r>
            <a:r>
              <a:rPr lang="en-US" dirty="0" err="1"/>
              <a:t>avl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 err="1"/>
              <a:t>Vl</a:t>
            </a:r>
            <a:r>
              <a:rPr lang="en-US" dirty="0"/>
              <a:t> = </a:t>
            </a:r>
            <a:r>
              <a:rPr lang="en-US" dirty="0" err="1"/>
              <a:t>avl</a:t>
            </a:r>
            <a:r>
              <a:rPr lang="en-US" dirty="0"/>
              <a:t> = 19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16bit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dirty="0"/>
              <a:t>8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/cycle -&gt; </a:t>
            </a:r>
            <a:r>
              <a:rPr lang="en-US" dirty="0" err="1"/>
              <a:t>Cần</a:t>
            </a:r>
            <a:r>
              <a:rPr lang="en-US" dirty="0"/>
              <a:t> 3 chu </a:t>
            </a:r>
            <a:r>
              <a:rPr lang="en-US" dirty="0" err="1"/>
              <a:t>kì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517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B8463-0579-1AB9-A278-1E4ACB1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DD0A53-A5F8-E7DA-26B6-456E8439A1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DADC43-DABD-007C-E10D-AE09F7EC4130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Google Shape;102;p14">
            <a:extLst>
              <a:ext uri="{FF2B5EF4-FFF2-40B4-BE49-F238E27FC236}">
                <a16:creationId xmlns:a16="http://schemas.microsoft.com/office/drawing/2014/main" id="{4572A5CA-2AB1-8C63-D36A-9E563BD32D7C}"/>
              </a:ext>
            </a:extLst>
          </p:cNvPr>
          <p:cNvSpPr txBox="1"/>
          <p:nvPr/>
        </p:nvSpPr>
        <p:spPr>
          <a:xfrm>
            <a:off x="622697" y="1374267"/>
            <a:ext cx="56507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3.2 Logic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điều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khiển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counter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và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tín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hiệu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done</a:t>
            </a:r>
            <a:endParaRPr sz="2000" dirty="0"/>
          </a:p>
        </p:txBody>
      </p:sp>
      <p:sp>
        <p:nvSpPr>
          <p:cNvPr id="26" name="Google Shape;116;p14">
            <a:extLst>
              <a:ext uri="{FF2B5EF4-FFF2-40B4-BE49-F238E27FC236}">
                <a16:creationId xmlns:a16="http://schemas.microsoft.com/office/drawing/2014/main" id="{4FD7E191-B527-8AC3-A83D-B6F0578DD5D1}"/>
              </a:ext>
            </a:extLst>
          </p:cNvPr>
          <p:cNvSpPr txBox="1"/>
          <p:nvPr/>
        </p:nvSpPr>
        <p:spPr>
          <a:xfrm>
            <a:off x="1183907" y="286552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 err="1"/>
              <a:t>Tối</a:t>
            </a:r>
            <a:r>
              <a:rPr lang="en-US" sz="3600" b="1" dirty="0"/>
              <a:t> </a:t>
            </a:r>
            <a:r>
              <a:rPr lang="en-US" sz="3600" b="1" dirty="0" err="1"/>
              <a:t>ưu</a:t>
            </a:r>
            <a:r>
              <a:rPr lang="en-US" sz="3600" b="1" dirty="0"/>
              <a:t> </a:t>
            </a:r>
            <a:r>
              <a:rPr lang="en-US" sz="3600" b="1" dirty="0" err="1"/>
              <a:t>hóa</a:t>
            </a:r>
            <a:r>
              <a:rPr lang="en-US" sz="3600" b="1" dirty="0"/>
              <a:t> FSM</a:t>
            </a:r>
            <a:endParaRPr dirty="0"/>
          </a:p>
        </p:txBody>
      </p:sp>
      <p:sp>
        <p:nvSpPr>
          <p:cNvPr id="27" name="Google Shape;117;p14">
            <a:extLst>
              <a:ext uri="{FF2B5EF4-FFF2-40B4-BE49-F238E27FC236}">
                <a16:creationId xmlns:a16="http://schemas.microsoft.com/office/drawing/2014/main" id="{2DC61879-B8FF-D89F-4243-355BB73F32BF}"/>
              </a:ext>
            </a:extLst>
          </p:cNvPr>
          <p:cNvSpPr/>
          <p:nvPr/>
        </p:nvSpPr>
        <p:spPr>
          <a:xfrm>
            <a:off x="485775" y="1266825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303322-393E-7E2D-284F-6334D2A6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5189"/>
            <a:ext cx="858202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Counter Increment: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vì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+1, counter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số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lượng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được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trong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nếu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SEW=8,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mỗi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16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thì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counter = counter + 16).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Cơ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chế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Early Done: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Nếu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nhỏ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hơn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khả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tối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một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=2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trong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cứng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chạy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4), FSM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phải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kích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hoạt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hiệu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Done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lập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tức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kết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hợp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với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Masking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ngắt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luồng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liệu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thừa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EF3EB-25E6-99BC-49BE-2183BB440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9" y="3235362"/>
            <a:ext cx="4447641" cy="3573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8A8592-9C35-E48C-23A5-97EEB9377953}"/>
              </a:ext>
            </a:extLst>
          </p:cNvPr>
          <p:cNvSpPr txBox="1"/>
          <p:nvPr/>
        </p:nvSpPr>
        <p:spPr>
          <a:xfrm>
            <a:off x="4428190" y="6048228"/>
            <a:ext cx="6448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VRF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encoding address sang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=&gt;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 tail agnostic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mask agnostic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0BF45F-49B6-9166-F8C5-BB661694A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3429000"/>
            <a:ext cx="3310442" cy="220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6946F3-A407-E7CA-6884-F400EB3636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992" y="3333631"/>
            <a:ext cx="4133608" cy="18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9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84E4-8369-8BA0-9AEC-15B74ECE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E7FCD5-386A-EC94-DEF2-702B8B264E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873"/>
            <a:ext cx="1302618" cy="1184308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7B608D-9351-2FAF-CFBC-359F4171038D}"/>
              </a:ext>
            </a:extLst>
          </p:cNvPr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Google Shape;102;p14">
            <a:extLst>
              <a:ext uri="{FF2B5EF4-FFF2-40B4-BE49-F238E27FC236}">
                <a16:creationId xmlns:a16="http://schemas.microsoft.com/office/drawing/2014/main" id="{BAD8DE64-FBF3-CB84-32B5-EE0FD2493C5C}"/>
              </a:ext>
            </a:extLst>
          </p:cNvPr>
          <p:cNvSpPr txBox="1"/>
          <p:nvPr/>
        </p:nvSpPr>
        <p:spPr>
          <a:xfrm>
            <a:off x="622697" y="1374267"/>
            <a:ext cx="56507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3.2 Logic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điều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khiển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counter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và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tín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nrope"/>
                <a:sym typeface="Manrope"/>
              </a:rPr>
              <a:t>hiệu</a:t>
            </a:r>
            <a:r>
              <a:rPr lang="en-US" sz="2000" b="1" dirty="0">
                <a:solidFill>
                  <a:srgbClr val="1E293B"/>
                </a:solidFill>
                <a:latin typeface="Manrope"/>
                <a:sym typeface="Manrope"/>
              </a:rPr>
              <a:t> done</a:t>
            </a:r>
            <a:endParaRPr sz="2000" dirty="0"/>
          </a:p>
        </p:txBody>
      </p:sp>
      <p:sp>
        <p:nvSpPr>
          <p:cNvPr id="26" name="Google Shape;116;p14">
            <a:extLst>
              <a:ext uri="{FF2B5EF4-FFF2-40B4-BE49-F238E27FC236}">
                <a16:creationId xmlns:a16="http://schemas.microsoft.com/office/drawing/2014/main" id="{35804FC5-7016-A54E-E104-3C790953FC84}"/>
              </a:ext>
            </a:extLst>
          </p:cNvPr>
          <p:cNvSpPr txBox="1"/>
          <p:nvPr/>
        </p:nvSpPr>
        <p:spPr>
          <a:xfrm>
            <a:off x="1183907" y="286552"/>
            <a:ext cx="11715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/>
            <a:r>
              <a:rPr lang="en-US" sz="3600" b="1" dirty="0" err="1"/>
              <a:t>Tối</a:t>
            </a:r>
            <a:r>
              <a:rPr lang="en-US" sz="3600" b="1" dirty="0"/>
              <a:t> </a:t>
            </a:r>
            <a:r>
              <a:rPr lang="en-US" sz="3600" b="1" dirty="0" err="1"/>
              <a:t>ưu</a:t>
            </a:r>
            <a:r>
              <a:rPr lang="en-US" sz="3600" b="1" dirty="0"/>
              <a:t> </a:t>
            </a:r>
            <a:r>
              <a:rPr lang="en-US" sz="3600" b="1" dirty="0" err="1"/>
              <a:t>hóa</a:t>
            </a:r>
            <a:r>
              <a:rPr lang="en-US" sz="3600" b="1" dirty="0"/>
              <a:t> FSM</a:t>
            </a:r>
            <a:endParaRPr dirty="0"/>
          </a:p>
        </p:txBody>
      </p:sp>
      <p:sp>
        <p:nvSpPr>
          <p:cNvPr id="27" name="Google Shape;117;p14">
            <a:extLst>
              <a:ext uri="{FF2B5EF4-FFF2-40B4-BE49-F238E27FC236}">
                <a16:creationId xmlns:a16="http://schemas.microsoft.com/office/drawing/2014/main" id="{DF59EDB2-E6C7-ED9E-769C-562F84CAA982}"/>
              </a:ext>
            </a:extLst>
          </p:cNvPr>
          <p:cNvSpPr/>
          <p:nvPr/>
        </p:nvSpPr>
        <p:spPr>
          <a:xfrm>
            <a:off x="485775" y="1266825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282ED0-915E-1F4D-C4E3-51C918984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5189"/>
            <a:ext cx="8582025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Counter Increment: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vì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+1, counter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số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lượng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được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trong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nếu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SEW=8,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mỗi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16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thì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counter = counter + 16).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Cơ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chế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Early Done: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Nếu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nhỏ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hơn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khả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năng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lý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tối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của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một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chu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ví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dụ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=2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trong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khi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phần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cứng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có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chạy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4), FSM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phải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kích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hoạt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tín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hiệu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Done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lập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tức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kết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hợp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với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Masking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để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ngắt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luồng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ghi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dữ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liệu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thừa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DCD1D-C174-DEAD-7DD3-FEE0D0F0F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9" y="3235362"/>
            <a:ext cx="4447641" cy="3573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DF2E43-126F-1140-CF0C-33C5D1EF5B90}"/>
              </a:ext>
            </a:extLst>
          </p:cNvPr>
          <p:cNvSpPr txBox="1"/>
          <p:nvPr/>
        </p:nvSpPr>
        <p:spPr>
          <a:xfrm>
            <a:off x="4428190" y="6048228"/>
            <a:ext cx="6448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Thay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VRF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encoding address sang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=&gt;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 tail agnostic </a:t>
            </a:r>
            <a:r>
              <a:rPr lang="en-US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mask agnostic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553E8B-F983-B71D-E1C3-78D2225C6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600" y="3429000"/>
            <a:ext cx="3310442" cy="2202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D7031C-C1E6-7593-871A-46AB5C826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992" y="3333631"/>
            <a:ext cx="4133608" cy="187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49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dataflow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Synchronous FIFO</a:t>
            </a:r>
          </a:p>
          <a:p>
            <a:pPr marL="0" indent="0">
              <a:buNone/>
            </a:pPr>
            <a:r>
              <a:rPr lang="vi-VN" sz="1400" dirty="0"/>
              <a:t>Việc xử lý một Vector thường kéo dài qua nhiều chu kỳ (multi-cycle), gây ra hiện tượng nghẽn cổ chai (bottleneck) nếu Scalar Core phải đợi VPU hoàn thành.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Đệm</a:t>
            </a: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dữ</a:t>
            </a: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liệu</a:t>
            </a:r>
            <a:r>
              <a:rPr lang="en-US" altLang="en-US" sz="1400" b="1" dirty="0">
                <a:latin typeface="Arial" panose="020B0604020202020204" pitchFamily="34" charset="0"/>
              </a:rPr>
              <a:t> (Buffering):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Tạo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vùng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đệm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giữa</a:t>
            </a:r>
            <a:r>
              <a:rPr lang="en-US" altLang="en-US" sz="1400" dirty="0">
                <a:latin typeface="Arial" panose="020B0604020202020204" pitchFamily="34" charset="0"/>
              </a:rPr>
              <a:t> Scalar Core </a:t>
            </a:r>
            <a:r>
              <a:rPr lang="en-US" altLang="en-US" sz="1400" dirty="0" err="1">
                <a:latin typeface="Arial" panose="020B0604020202020204" pitchFamily="34" charset="0"/>
              </a:rPr>
              <a:t>và</a:t>
            </a:r>
            <a:r>
              <a:rPr lang="en-US" altLang="en-US" sz="1400" dirty="0">
                <a:latin typeface="Arial" panose="020B0604020202020204" pitchFamily="34" charset="0"/>
              </a:rPr>
              <a:t> VPU, </a:t>
            </a:r>
            <a:r>
              <a:rPr lang="en-US" altLang="en-US" sz="1400" dirty="0" err="1">
                <a:latin typeface="Arial" panose="020B0604020202020204" pitchFamily="34" charset="0"/>
              </a:rPr>
              <a:t>cho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phép</a:t>
            </a:r>
            <a:r>
              <a:rPr lang="en-US" altLang="en-US" sz="1400" dirty="0">
                <a:latin typeface="Arial" panose="020B0604020202020204" pitchFamily="34" charset="0"/>
              </a:rPr>
              <a:t> Scalar Core </a:t>
            </a:r>
            <a:r>
              <a:rPr lang="en-US" altLang="en-US" sz="1400" dirty="0" err="1">
                <a:latin typeface="Arial" panose="020B0604020202020204" pitchFamily="34" charset="0"/>
              </a:rPr>
              <a:t>tiếp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tục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nạp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lệnh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mới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mà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không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cần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đợi</a:t>
            </a:r>
            <a:r>
              <a:rPr lang="en-US" altLang="en-US" sz="1400" dirty="0">
                <a:latin typeface="Arial" panose="020B0604020202020204" pitchFamily="34" charset="0"/>
              </a:rPr>
              <a:t> VPU </a:t>
            </a:r>
            <a:r>
              <a:rPr lang="en-US" altLang="en-US" sz="1400" dirty="0" err="1">
                <a:latin typeface="Arial" panose="020B0604020202020204" pitchFamily="34" charset="0"/>
              </a:rPr>
              <a:t>kết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thúc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các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lệnh</a:t>
            </a:r>
            <a:r>
              <a:rPr lang="en-US" altLang="en-US" sz="1400" dirty="0">
                <a:latin typeface="Arial" panose="020B0604020202020204" pitchFamily="34" charset="0"/>
              </a:rPr>
              <a:t> Vector </a:t>
            </a:r>
            <a:r>
              <a:rPr lang="en-US" altLang="en-US" sz="1400" dirty="0" err="1">
                <a:latin typeface="Arial" panose="020B0604020202020204" pitchFamily="34" charset="0"/>
              </a:rPr>
              <a:t>dài</a:t>
            </a:r>
            <a:r>
              <a:rPr lang="en-US" altLang="en-US" sz="1400" dirty="0">
                <a:latin typeface="Arial" panose="020B0604020202020204" pitchFamily="34" charset="0"/>
              </a:rPr>
              <a:t> (multi-cycle).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Đồng</a:t>
            </a: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bộ</a:t>
            </a: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hóa</a:t>
            </a:r>
            <a:r>
              <a:rPr lang="en-US" altLang="en-US" sz="1400" b="1" dirty="0">
                <a:latin typeface="Arial" panose="020B0604020202020204" pitchFamily="34" charset="0"/>
              </a:rPr>
              <a:t> (Synchronization):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Hoạt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động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trên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cùng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một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miền</a:t>
            </a:r>
            <a:r>
              <a:rPr lang="en-US" altLang="en-US" sz="1400" dirty="0">
                <a:latin typeface="Arial" panose="020B0604020202020204" pitchFamily="34" charset="0"/>
              </a:rPr>
              <a:t> Clock </a:t>
            </a:r>
            <a:r>
              <a:rPr lang="en-US" altLang="en-US" sz="1400" dirty="0" err="1">
                <a:latin typeface="Arial" panose="020B0604020202020204" pitchFamily="34" charset="0"/>
              </a:rPr>
              <a:t>giúp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tối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ưu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hóa</a:t>
            </a:r>
            <a:r>
              <a:rPr lang="en-US" altLang="en-US" sz="1400" dirty="0">
                <a:latin typeface="Arial" panose="020B0604020202020204" pitchFamily="34" charset="0"/>
              </a:rPr>
              <a:t> timing </a:t>
            </a:r>
            <a:r>
              <a:rPr lang="en-US" altLang="en-US" sz="1400" dirty="0" err="1">
                <a:latin typeface="Arial" panose="020B0604020202020204" pitchFamily="34" charset="0"/>
              </a:rPr>
              <a:t>và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giảm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diện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tích</a:t>
            </a:r>
            <a:r>
              <a:rPr lang="en-US" altLang="en-US" sz="1400" dirty="0">
                <a:latin typeface="Arial" panose="020B0604020202020204" pitchFamily="34" charset="0"/>
              </a:rPr>
              <a:t> chip (Area) do </a:t>
            </a:r>
            <a:r>
              <a:rPr lang="en-US" altLang="en-US" sz="1400" dirty="0" err="1">
                <a:latin typeface="Arial" panose="020B0604020202020204" pitchFamily="34" charset="0"/>
              </a:rPr>
              <a:t>không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cần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các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bộ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đồng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bộ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phức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tạp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 Quản </a:t>
            </a:r>
            <a:r>
              <a:rPr lang="en-US" altLang="en-US" sz="1400" b="1" dirty="0" err="1">
                <a:latin typeface="Arial" panose="020B0604020202020204" pitchFamily="34" charset="0"/>
              </a:rPr>
              <a:t>lý</a:t>
            </a:r>
            <a:r>
              <a:rPr lang="en-US" altLang="en-US" sz="1400" b="1" dirty="0">
                <a:latin typeface="Arial" panose="020B0604020202020204" pitchFamily="34" charset="0"/>
              </a:rPr>
              <a:t> </a:t>
            </a:r>
            <a:r>
              <a:rPr lang="en-US" altLang="en-US" sz="1400" b="1" dirty="0" err="1">
                <a:latin typeface="Arial" panose="020B0604020202020204" pitchFamily="34" charset="0"/>
              </a:rPr>
              <a:t>luồng</a:t>
            </a:r>
            <a:r>
              <a:rPr lang="en-US" altLang="en-US" sz="1400" b="1" dirty="0">
                <a:latin typeface="Arial" panose="020B0604020202020204" pitchFamily="34" charset="0"/>
              </a:rPr>
              <a:t> (Flow Control):</a:t>
            </a:r>
            <a:r>
              <a:rPr lang="en-US" altLang="en-US" sz="1400" dirty="0">
                <a:latin typeface="Arial" panose="020B0604020202020204" pitchFamily="34" charset="0"/>
              </a:rPr>
              <a:t> Cung </a:t>
            </a:r>
            <a:r>
              <a:rPr lang="en-US" altLang="en-US" sz="1400" dirty="0" err="1">
                <a:latin typeface="Arial" panose="020B0604020202020204" pitchFamily="34" charset="0"/>
              </a:rPr>
              <a:t>cấp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các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tín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hiệu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trạng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thái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>
                <a:latin typeface="Arial Unicode MS"/>
              </a:rPr>
              <a:t>Full</a:t>
            </a:r>
            <a:r>
              <a:rPr lang="en-US" altLang="en-US" sz="1400" dirty="0"/>
              <a:t>, </a:t>
            </a:r>
            <a:r>
              <a:rPr lang="en-US" altLang="en-US" sz="1400" dirty="0">
                <a:latin typeface="Arial Unicode MS"/>
              </a:rPr>
              <a:t>Empty</a:t>
            </a:r>
            <a:r>
              <a:rPr lang="en-US" altLang="en-US" sz="1400" dirty="0"/>
              <a:t>, </a:t>
            </a:r>
            <a:r>
              <a:rPr lang="en-US" altLang="en-US" sz="1400" dirty="0">
                <a:latin typeface="Arial Unicode MS"/>
              </a:rPr>
              <a:t>pop push </a:t>
            </a:r>
            <a:r>
              <a:rPr lang="en-US" altLang="en-US" sz="1400" dirty="0" err="1"/>
              <a:t>để</a:t>
            </a:r>
            <a:r>
              <a:rPr lang="en-US" altLang="en-US" sz="1400" dirty="0"/>
              <a:t> </a:t>
            </a:r>
            <a:r>
              <a:rPr lang="en-US" altLang="en-US" sz="1400" dirty="0" err="1"/>
              <a:t>điều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tiết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tốc</a:t>
            </a:r>
            <a:r>
              <a:rPr lang="en-US" altLang="en-US" sz="1400" dirty="0"/>
              <a:t> </a:t>
            </a:r>
            <a:r>
              <a:rPr lang="en-US" altLang="en-US" sz="1400" dirty="0" err="1"/>
              <a:t>độ</a:t>
            </a:r>
            <a:r>
              <a:rPr lang="en-US" altLang="en-US" sz="1400" dirty="0"/>
              <a:t> </a:t>
            </a:r>
            <a:r>
              <a:rPr lang="en-US" altLang="en-US" sz="1400" dirty="0" err="1"/>
              <a:t>cấp</a:t>
            </a:r>
            <a:r>
              <a:rPr lang="en-US" altLang="en-US" sz="1400" dirty="0"/>
              <a:t> </a:t>
            </a:r>
            <a:r>
              <a:rPr lang="en-US" altLang="en-US" sz="1400" dirty="0" err="1"/>
              <a:t>phát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lệnh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từ</a:t>
            </a:r>
            <a:r>
              <a:rPr lang="en-US" altLang="en-US" sz="1400" dirty="0"/>
              <a:t> </a:t>
            </a:r>
            <a:r>
              <a:rPr lang="en-US" altLang="en-US" sz="1400" dirty="0" err="1"/>
              <a:t>hệ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thống</a:t>
            </a:r>
            <a:r>
              <a:rPr lang="en-US" altLang="en-US" sz="1400" dirty="0"/>
              <a:t> </a:t>
            </a:r>
            <a:r>
              <a:rPr lang="en-US" altLang="en-US" sz="1400" dirty="0" err="1"/>
              <a:t>và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tốc</a:t>
            </a:r>
            <a:r>
              <a:rPr lang="en-US" altLang="en-US" sz="1400" dirty="0"/>
              <a:t> </a:t>
            </a:r>
            <a:r>
              <a:rPr lang="en-US" altLang="en-US" sz="1400" dirty="0" err="1"/>
              <a:t>độ</a:t>
            </a:r>
            <a:r>
              <a:rPr lang="en-US" altLang="en-US" sz="1400" dirty="0"/>
              <a:t> </a:t>
            </a:r>
            <a:r>
              <a:rPr lang="en-US" altLang="en-US" sz="1400" dirty="0" err="1"/>
              <a:t>xử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lí</a:t>
            </a:r>
            <a:r>
              <a:rPr lang="en-US" altLang="en-US" sz="1400" dirty="0"/>
              <a:t> </a:t>
            </a:r>
            <a:r>
              <a:rPr lang="en-US" altLang="en-US" sz="1400" dirty="0" err="1"/>
              <a:t>lệnh</a:t>
            </a:r>
            <a:r>
              <a:rPr lang="en-US" altLang="en-US" sz="1400" dirty="0"/>
              <a:t> </a:t>
            </a:r>
            <a:r>
              <a:rPr lang="en-US" altLang="en-US" sz="1400" dirty="0" err="1"/>
              <a:t>từ</a:t>
            </a:r>
            <a:r>
              <a:rPr lang="en-US" altLang="en-US" sz="1400" dirty="0"/>
              <a:t> FSM.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11C618D-0693-0726-55FA-E1B553B53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333" y="4116654"/>
            <a:ext cx="3885331" cy="27413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0BCD-605B-F306-9EED-C4D2D6BF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F4DB1AE-C3CF-AC11-2AEB-BEDFC9FD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348" y="2447131"/>
            <a:ext cx="5252989" cy="2909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08A901-F6DD-1599-D5FD-6CE2DA30D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2618789"/>
            <a:ext cx="4705455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78CA3E-FAC0-0B0C-A76A-7A2EEE18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r>
              <a:rPr lang="en-US" b="1" dirty="0"/>
              <a:t>Block Diagram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5739C-2ACF-3330-83A7-3497E2BEF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System 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C0854-723A-C434-73A6-1FE57A63C6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F8EF1E-E333-334F-7D3D-4FB8A9D8D16F}"/>
              </a:ext>
            </a:extLst>
          </p:cNvPr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1FA46B-E4D4-F8D1-EC78-544E03B92077}"/>
              </a:ext>
            </a:extLst>
          </p:cNvPr>
          <p:cNvCxnSpPr>
            <a:cxnSpLocks/>
          </p:cNvCxnSpPr>
          <p:nvPr/>
        </p:nvCxnSpPr>
        <p:spPr>
          <a:xfrm flipV="1">
            <a:off x="4991100" y="2921000"/>
            <a:ext cx="2279650" cy="1412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434385-221B-9F83-D67F-8A3FFB9A6AF8}"/>
              </a:ext>
            </a:extLst>
          </p:cNvPr>
          <p:cNvCxnSpPr>
            <a:cxnSpLocks/>
          </p:cNvCxnSpPr>
          <p:nvPr/>
        </p:nvCxnSpPr>
        <p:spPr>
          <a:xfrm>
            <a:off x="4991100" y="4984750"/>
            <a:ext cx="2279650" cy="148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878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D869-360A-1234-7564-76850C04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8E5D95A-C9EC-2213-DF31-9D4E17BB8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783" y="1914520"/>
            <a:ext cx="4536167" cy="26063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D452AC-881F-2774-8824-990D770C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528" y="-70628"/>
            <a:ext cx="10515600" cy="1325563"/>
          </a:xfrm>
        </p:spPr>
        <p:txBody>
          <a:bodyPr/>
          <a:lstStyle/>
          <a:p>
            <a:r>
              <a:rPr lang="en-US" b="1" dirty="0"/>
              <a:t>Block Diagram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68AC-CC0D-E474-C223-292BA4C98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FPGA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C56AF-85A2-DA86-46AF-12E0BD2955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10" y="0"/>
            <a:ext cx="1302618" cy="118430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A88CD7-5AE9-8F07-27BB-CE7D8A4FF90E}"/>
              </a:ext>
            </a:extLst>
          </p:cNvPr>
          <p:cNvCxnSpPr/>
          <p:nvPr/>
        </p:nvCxnSpPr>
        <p:spPr>
          <a:xfrm>
            <a:off x="1212783" y="1029903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E358505-7D7D-9D85-FE51-65E94E276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8950" y="2009211"/>
            <a:ext cx="6188912" cy="23957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82D353-A087-4892-E046-F0EC41CC7754}"/>
              </a:ext>
            </a:extLst>
          </p:cNvPr>
          <p:cNvSpPr txBox="1"/>
          <p:nvPr/>
        </p:nvSpPr>
        <p:spPr>
          <a:xfrm>
            <a:off x="2903355" y="4443538"/>
            <a:ext cx="1674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RTL netlist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F558E3-3844-6CF4-9D4E-B0D195F9C800}"/>
              </a:ext>
            </a:extLst>
          </p:cNvPr>
          <p:cNvSpPr txBox="1"/>
          <p:nvPr/>
        </p:nvSpPr>
        <p:spPr>
          <a:xfrm>
            <a:off x="8541077" y="4406693"/>
            <a:ext cx="174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Simulation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CCA4C4-0C6F-799C-B167-0E24BB88F5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219" y="4799507"/>
            <a:ext cx="10602954" cy="203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4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1234</Words>
  <Application>Microsoft Office PowerPoint</Application>
  <PresentationFormat>Widescreen</PresentationFormat>
  <Paragraphs>116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Arial Unicode MS</vt:lpstr>
      <vt:lpstr>Calibri</vt:lpstr>
      <vt:lpstr>Courier New</vt:lpstr>
      <vt:lpstr>Google Sans</vt:lpstr>
      <vt:lpstr>Google Sans Text</vt:lpstr>
      <vt:lpstr>Manrope</vt:lpstr>
      <vt:lpstr>Wingdings</vt:lpstr>
      <vt:lpstr>Office Theme</vt:lpstr>
      <vt:lpstr>ĐẠI HỌC QUỐC GIA THÀNH PHỐ HỒ CHÍ MINH TRƯỜNG ĐẠI HỌC BÁCH KHOA KHOA ĐIỆN-ĐIỆN TỬ BỘ MÔN ĐIỆN TỬ</vt:lpstr>
      <vt:lpstr>Task Items</vt:lpstr>
      <vt:lpstr>PowerPoint Presentation</vt:lpstr>
      <vt:lpstr>PowerPoint Presentation</vt:lpstr>
      <vt:lpstr>PowerPoint Presentation</vt:lpstr>
      <vt:lpstr>Processing Unit</vt:lpstr>
      <vt:lpstr>PowerPoint Presentation</vt:lpstr>
      <vt:lpstr>Control and Status Register</vt:lpstr>
      <vt:lpstr>PowerPoint Presentation</vt:lpstr>
      <vt:lpstr>PowerPoint Presentation</vt:lpstr>
      <vt:lpstr>PowerPoint Presentation</vt:lpstr>
      <vt:lpstr>Tối ưu hóa dataflow</vt:lpstr>
      <vt:lpstr>Block Diagram</vt:lpstr>
      <vt:lpstr>Block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Tường</dc:creator>
  <cp:lastModifiedBy>PHẠM ANH KHÔI</cp:lastModifiedBy>
  <cp:revision>20</cp:revision>
  <dcterms:created xsi:type="dcterms:W3CDTF">2026-01-06T16:58:00Z</dcterms:created>
  <dcterms:modified xsi:type="dcterms:W3CDTF">2026-04-04T03:15:28Z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67C0AE5B8C274B1FB2D1486404413F77_12</vt:lpwstr>
  </property>
  <property fmtid="{D5CDD505-2E9C-101B-9397-08002B2CF9AE}" pid="3" name="KSOProductBuildVer">
    <vt:lpwstr>1033-12.2.0.23196</vt:lpwstr>
  </property>
</Properties>
</file>