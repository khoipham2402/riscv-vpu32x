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7"/>
    <p:sldId id="266" r:id="rId6"/>
    <p:sldId id="267" r:id="rId5"/>
    <p:sldId id="268" r:id="rId4"/>
    <p:sldId id="269" r:id="rId3"/>
    <p:sldId id="270" r:id="rId21"/>
    <p:sldId id="271" r:id="rId22"/>
    <p:sldId id="272" r:id="rId23"/>
    <p:sldId id="273" r:id="rId24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3EFF1-6925-408E-BD6B-DD47F8D56D2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6BC8F-E85E-4A4E-8624-2FB1763FA7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2B2-1E79-4C25-92C9-5E1043CE13A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A2B2-1E79-4C25-92C9-5E1043CE13A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4BD6-7F83-4568-B70A-F657468A31B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84BD6-7F83-4568-B70A-F657468A31BA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EB94-561B-4D73-B4C6-DF16DE2956B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EAEB94-561B-4D73-B4C6-DF16DE2956B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7C6-237B-4823-A937-596DB81B6503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AE7C6-237B-4823-A937-596DB81B6503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A4F7-F0B2-4E58-8485-D498AD748580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0A4F7-F0B2-4E58-8485-D498AD748580}" type="datetime1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CF98-443D-4FA8-80F8-8273D597AFB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0CF98-443D-4FA8-80F8-8273D597AFBC}" type="datetime1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8AF73-CCA5-4FB8-833D-EA34EAB01DF1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68AF73-CCA5-4FB8-833D-EA34EAB01DF1}" type="datetime1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DC3C-83FE-415E-8EF7-B92C49FFFE51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DC3C-83FE-415E-8EF7-B92C49FFFE51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FAA7-5E91-44CD-A3B7-C41AAA3840C7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4FAA7-5E91-44CD-A3B7-C41AAA3840C7}" type="datetime1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BAEC-7E34-474B-B642-6A7CAEB2194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BAEC-7E34-474B-B642-6A7CAEB21945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6DD5-4133-4BD0-B384-CDF9750CA1A6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6DD5-4133-4BD0-B384-CDF9750CA1A6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7521-1A90-45FD-85AE-240E2F11EF1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1D7521-1A90-45FD-85AE-240E2F11EF19}" type="datetime1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B42F9E-BB95-4F71-9AE1-F70066897BB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267525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ĐẠI HỌC QUỐC GIA THÀNH PHỐ HỒ CHÍ MINH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TRƯỜNG ĐẠI HỌC BÁCH KHOA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 err="1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</a:t>
            </a: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ĐIỆN-ĐIỆN TỬ</a:t>
            </a:r>
            <a:b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BỘ MÔN ĐIỆN TỬ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11433" y="4531837"/>
            <a:ext cx="4572000" cy="1655762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Phạm Anh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Khôi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MSSV: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2251026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5075" y="541095"/>
            <a:ext cx="1736717" cy="15789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91790" y="2448560"/>
            <a:ext cx="6408420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ĐỒ ÁN CHUYÊN NGÀNH 2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BÁO CÁO CUỐI KỲ</a:t>
            </a:r>
          </a:p>
          <a:p>
            <a:pPr algn="ctr"/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RISCV - VECTOR PROCESSING UNIT</a:t>
            </a:r>
          </a:p>
          <a:p>
            <a:pPr algn="ctr"/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Nội dung báo cáo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1. Giới thiệu &amp; Mục tiêu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2. Kiến trúc hệ thống tổng quan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922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3. Scalar RISC-V Core (5-stage pipeline)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4. Vector Processing Unit (VPU)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4.1 Decoder &amp; ctrl_bus 49-bit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3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4.2 Instruction FIFO &amp; FSM 9-state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8211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4.3 Execution Lane &amp; Functional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2958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4.4 Vector LSU (VLE/VSE masked)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7705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4.5 Reduction Unit (serial accumulator)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24527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5. Bộ nhớ &amp; UART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71999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6. Phần mềm &amp; Firmware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19471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7. Kiểm tra &amp; Đánh giá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266943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8. Kết quả FPGA &amp;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14415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9. Kết luận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Giới thiệu &amp; Mục tiêu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Mục tiêu: Thiết kế VPU tích hợp với RISC-V scalar core, hướng đến tapeout ASIC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ISA: rv32im_zicsr_zve32x_zvl128b — bao gồm Zve32x subset đầy đủ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VLEN = 128 bits, SEW = 8/16/32 bit, LMUL = 1/2/4/8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Ứng dụng minh họa: Xử lý ảnh thời gian thực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BT.601 RGB → Grayscale trên ảnh Lena 128×128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Demo FPGA trên DE10-Standard (Cyclone V) với VGA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Quy tắc thiết kế RTL (ASIC-ready)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Không dùng construct chỉ dành cho simulation trong /rtl/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Synchronous active-low reset xuyên suốt toàn bộ hierarchy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Parameterised interfaces — không hardcode VLEN/SEW/LMUL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Kiến trúc tổng quan — riscv_vpu_top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Kiến trúc hệ thống tổng quan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Scalar RISC-V Core (RV32IM, 5-stage)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5-stage pipeline: IF → ID → EX → MEM → WB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Synchronous IMEM/DMEM (1-cycle latency), Harvard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Full forwarding: EX→MEM, MEM→WB bypass mux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Hazard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Load-use: stall PC + IF/ID, inject bubble vào 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VPU stall: freeze toàn bộ pipeline khi vpu_ready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VPU Dispatch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OP-V tại EX: drive vpu_insn_vld + vpu_insn + rs1/rs2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26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vsetvl* writeback: chờ vpu_cfg_done, ghi vl vào scalar RF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VPU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3366"/>
                </a:solidFill>
              </a:rPr>
              <a:t>VPU Subsystem — vproc_system_wrapper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Decoder &amp; FSM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vproc_vdecoder: 32-bit instruction → 49-bit ctrl_bus (combinational)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Bits [4:0] vs1_addr, [9:5] vs2_addr, [14:10] vd_addr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Bits [20:15] funct6, [21] is_widen, [24] is_subtraction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Bits [29] is_vector, [31] vm (insn[25]), [47] is_reduction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5 nhóm lệnh chính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Config (vsetvl*): 1 cycle, ST_CONFIG → update vl/vtype CSR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Exec: arithmetic/logic/shift/mul/minmax → ST_EXEC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Masking: compare instructions → ST_MASKING + ST_FINAL_MASKING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Widening: 2-phase → ST_WIDENL + ST_WIDENH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92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Reduction: serial accumulator → ST_REDUCTION + ST_REDUCTION_DONE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FSM 9-state — Execution Sequencer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s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11430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Execution Lane (vproc_processor_lane × 4)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4 lanes × 32-bit = 128 bits/cycle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SEW slicing: 4×8b / 2×16b / 1×32b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7 Functional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23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Adder: VADD/VSUB/VRSUB, carry/borrow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Multiplier: VMUL/VMULH/VMULHU/VMULHSU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46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Shifter: VSLL/VSRL/VSRA (SEW-masked amount)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657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Logic: VAND/VOR/VXOR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0690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Compare: 4-bit mask per word (vmseq,vmslt…)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480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MinMax: signed &amp; unsigned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8920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Reduction: serial per-element accumulator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Vector LSU — VLE/VSE với masked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051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Vector LSU — Masked Store VSE8.v (vl=12, SEW=8, vm=0)</a:t>
            </a:r>
          </a:p>
        </p:txBody>
      </p:sp>
      <p:pic>
        <p:nvPicPr>
          <p:cNvPr id="8" name="Picture 7" descr="vlsu_masked_store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114300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3-word transfer: mem_be=4'b0101 mỗi word (elements chẵn active, lẻ masked). Byte-enable logic: mask_be[j] = v0_flat[word_ctr×4 + j]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Reduction Unit — Serial Accumulator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1097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Thiết kế ban đầu: parallel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64 adder stages → F_max chỉ 16.44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965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Thiết kế mới: serial per-element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1 adder + register mỗi 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834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N_elem cycles để tích lũy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Kết quả cải thiện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703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16.44 → 47.18 MHz (2.87×)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ALM: 13,998 → 10,438 (−25%)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526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Hỗ trợ: VREDSUM, VREDMAX,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VREDMIN, VREDMAXU, VREDMINU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Bộ nhớ &amp; UART Peripheral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Harvard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IMEM: 8 KB, read-only, 1-cycle sync, loaded via $readmemh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DMEM: 64 KB, dual-port (Scalar Port A + VLSU Port B), byte-enable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DMEM Memory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34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0x0000–0x3FFF: R channel (Lena 128×128)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0x4000–0x7FFF: G 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0x8000–0xBFFF: B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0xC000–0xFFFF: Y channel (grayscale output)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UART 8N1 (TL-UL slave @ 0xFF000000)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TX/RX FIFO depth 8, 16× oversampling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Registers: STAT (+0x04), TXDAT (+0x08), RXDAT (+0x0C)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Software &amp; Firmware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05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3366"/>
                </a:solidFill>
              </a:rPr>
              <a:t>Build Pipeline</a:t>
            </a:r>
          </a:p>
        </p:txBody>
      </p:sp>
      <p:pic>
        <p:nvPicPr>
          <p:cNvPr id="8" name="Picture 7" descr="buil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17320"/>
            <a:ext cx="11430000" cy="28346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4434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Toolchain: riscv64-unknown-elf-gcc, -march=rv32im_zicsr_zve32x_zvl128b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BT.601 VPU Kernel (lena_gray.S): 9 vector instructions per 16-pixel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49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vsetvli, 3×vle8.v, 3×vmulhu.vx, 2×vadd.vv, 1×vse8.v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Y[i] = (R×77 + G×150 + B×29) &gt;&gt; 8  via vmulhu.vx SEW=8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Kiểm tra &amp; Đánh giá (Verification)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3 mức kiểm tra (V-Model)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Unit level: adder, mul, shifter, compare, reduction, VLSU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Integration: tb_vproc_all_instr — 172 test cases, 13 nhóm opcode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System: tb_lena_gray — 128×128 pixels, verify từng pixel vs reference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Kết quả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461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172/172 PASS — ALU VV/VX/VI, VRSUB, Logic, Shift, Compare, MUL, Widening,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75/75 PASS — VLSU: VLE8/16/32, VSE8/16/32, masked 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16384/16384 pixels PASS — Lena grayscale, max_error 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Transcript mô phỏng (35853 cycles)</a:t>
            </a:r>
          </a:p>
        </p:txBody>
      </p:sp>
      <p:pic>
        <p:nvPicPr>
          <p:cNvPr id="16" name="Picture 15" descr="lena_transcri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097280"/>
            <a:ext cx="39319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Performance Benchmarks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51760" cy="2377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35853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Lena 128×128
Cycles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097280"/>
            <a:ext cx="2651760" cy="2377440"/>
          </a:xfrm>
          <a:prstGeom prst="rect">
            <a:avLst/>
          </a:prstGeom>
          <a:solidFill>
            <a:srgbClr val="00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3716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Matmul 4×4
Cycles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2651760" cy="2377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3716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221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AXPY N=16
Cycles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6840" y="1097280"/>
            <a:ext cx="2651760" cy="23774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3716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~10×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6517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Speedup
vs Scalar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BT.601 Lena: 2.18 cycles/pixel — bandwidth-bound (1 byte/cycle = 1 element/cycle)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Speedup ~10× vs scalar RV32IM cho inner loop (vl=16, SEW=8)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Scalar dispatch overlap: VPU FIFO depth-8 cho phép scalar issue 4 lệnh trước khi stall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FPGA Synthesis — Cyclone V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0972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Fmax fast-corner: 47.18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+2.247 ns slack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965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ALM count: 10,438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23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Fmax evolution: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80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16.44 MHz (parallel tree)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29184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32.5 MHz (FIFO fix)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703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47.18 MHz (serial red.)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Bottleneck hiện tại: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5720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Scalar ALU carry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9834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~6ns slow-corner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FPGA Demo — DE10-Standard VGA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05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</a:rPr>
              <a:t>SW[0]=1: Ảnh RGB gốc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0058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3366"/>
                </a:solidFill>
              </a:rPr>
              <a:t>SW[0]=0: Grayscale BT.601</a:t>
            </a:r>
          </a:p>
        </p:txBody>
      </p:sp>
      <p:pic>
        <p:nvPicPr>
          <p:cNvPr id="9" name="Picture 8" descr="mif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17320"/>
            <a:ext cx="4114800" cy="4114800"/>
          </a:xfrm>
          <a:prstGeom prst="rect">
            <a:avLst/>
          </a:prstGeom>
        </p:spPr>
      </p:pic>
      <p:pic>
        <p:nvPicPr>
          <p:cNvPr id="10" name="Picture 9" descr="mif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417320"/>
            <a:ext cx="4114800" cy="4114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623560"/>
            <a:ext cx="12188952" cy="731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5687568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040"/>
                </a:solidFill>
              </a:rPr>
              <a:t>16,384/16,384 pixels verified byte-exact  |  max_error = 0  |  Hardware VGA demo confirmed on DE10-Standard @ 40 MHz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Open Issues — Path to Tapeout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#8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09728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0972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lsu.sv dùng async reset — phải fix để đáp ứng ASIC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0876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0876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150876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15087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50876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Chưa lint (latch audit) — cần chạy trước synthesis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59436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192024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1920240"/>
            <a:ext cx="1097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192024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192024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CTRL_WIDTH=48 vs 49 bits — audit consumer bus width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5943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33172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331720"/>
            <a:ext cx="109728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331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33172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vslide1up/vslide1down chưa implement — cần cho FIR filter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43200"/>
            <a:ext cx="594360" cy="347472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274320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2743200"/>
            <a:ext cx="1097280" cy="347472"/>
          </a:xfrm>
          <a:prstGeom prst="rect">
            <a:avLst/>
          </a:prstGeom>
          <a:solidFill>
            <a:srgbClr val="C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274320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274320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DMEM logic array cần thay bằng SRAM macro cho tapeout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59436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154680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#16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3154680"/>
            <a:ext cx="1097280" cy="347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31546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154680"/>
            <a:ext cx="9601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vsetivli chưa decode (workaround: dùng AVL &gt; 31)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42381" cy="1129542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1183907" y="991402"/>
            <a:ext cx="10308657" cy="0"/>
          </a:xfrm>
          <a:prstGeom prst="line">
            <a:avLst/>
          </a:prstGeom>
          <a:ln w="5715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3366"/>
                </a:solidFill>
              </a:rPr>
              <a:t>Kết luận &amp; Hướng phát triển</a:t>
            </a:r>
          </a:p>
        </p:txBody>
      </p:sp>
      <p:sp>
        <p:nvSpPr>
          <p:cNvPr id="6" name="Rectangle 5"/>
          <p:cNvSpPr/>
          <p:nvPr/>
        </p:nvSpPr>
        <p:spPr>
          <a:xfrm>
            <a:off x="1234440" y="841248"/>
            <a:ext cx="10241280" cy="365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Đã hoàn thành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Triển khai đầy đủ Zve32x VPU — 172/172 regression PASS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65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Tích hợp hệ thống end-to-end: scalar + VPU + UART + FPGA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77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FPGA: 47.18 MHz, 10,438 ALMs — cải thiện 3× tốc độ, giảm 25% 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88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VGA display hardware-verified trên DE10-Standard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3366"/>
                </a:solidFill>
              </a:rPr>
              <a:t>◆  Hướng phát triển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Fix async reset (#8) + lint pass (#9) → prerequisite cho ASIC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0690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Thêm vslide1up/down → mở rộng ứng dụng FIR 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Clock-gating + formal verification + STA closure @ 50 MHz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892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</a:rPr>
              <a:t>     •  Thay DMEM behavioral bằng SRAM macro → tapeout-ready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1421</TotalTime>
  <Words>1234</Words>
  <Application>Microsoft Office PowerPoint</Application>
  <PresentationFormat>Widescreen</PresentationFormat>
  <Paragraphs>116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</vt:lpstr>
      <vt:lpstr>Aptos Display</vt:lpstr>
      <vt:lpstr>Arial</vt:lpstr>
      <vt:lpstr>Arial Unicode MS</vt:lpstr>
      <vt:lpstr>Calibri</vt:lpstr>
      <vt:lpstr>Courier New</vt:lpstr>
      <vt:lpstr>Google Sans</vt:lpstr>
      <vt:lpstr>Google Sans Text</vt:lpstr>
      <vt:lpstr>Manrope</vt:lpstr>
      <vt:lpstr>Wingdings</vt:lpstr>
      <vt:lpstr>Office Theme</vt:lpstr>
      <vt:lpstr>ĐẠI HỌC QUỐC GIA THÀNH PHỐ HỒ CHÍ MINH TRƯỜNG ĐẠI HỌC BÁCH KHOA KHOA ĐIỆN-ĐIỆN TỬ BỘ MÔN ĐIỆN TỬ</vt:lpstr>
      <vt:lpstr>Task Items</vt:lpstr>
      <vt:lpstr>PowerPoint Presentation</vt:lpstr>
      <vt:lpstr>PowerPoint Presentation</vt:lpstr>
      <vt:lpstr>PowerPoint Presentation</vt:lpstr>
      <vt:lpstr>Processing Unit</vt:lpstr>
      <vt:lpstr>PowerPoint Presentation</vt:lpstr>
      <vt:lpstr>Control and Status Register</vt:lpstr>
      <vt:lpstr>PowerPoint Presentation</vt:lpstr>
      <vt:lpstr>PowerPoint Presentation</vt:lpstr>
      <vt:lpstr>PowerPoint Presentation</vt:lpstr>
      <vt:lpstr>Tối ưu hóa dataflow</vt:lpstr>
      <vt:lpstr>Block Diagram</vt:lpstr>
      <vt:lpstr>Block Diagram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Tường</dc:creator>
  <cp:lastModifiedBy>PHẠM ANH KHÔI</cp:lastModifiedBy>
  <cp:revision>20</cp:revision>
  <dcterms:created xsi:type="dcterms:W3CDTF">2026-01-06T16:58:00Z</dcterms:created>
  <dcterms:modified xsi:type="dcterms:W3CDTF">2026-04-04T03:15:28Z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67C0AE5B8C274B1FB2D1486404413F77_12</vt:lpwstr>
  </property>
  <property fmtid="{D5CDD505-2E9C-101B-9397-08002B2CF9AE}" pid="3" name="KSOProductBuildVer">
    <vt:lpwstr>1033-12.2.0.23196</vt:lpwstr>
  </property>
</Properties>
</file>