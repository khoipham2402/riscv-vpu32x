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4"/>
  </p:notesMasterIdLst>
  <p:sldIdLst>
    <p:sldId id="310" r:id="rId2"/>
    <p:sldId id="311" r:id="rId3"/>
    <p:sldId id="312" r:id="rId4"/>
    <p:sldId id="258" r:id="rId5"/>
    <p:sldId id="302" r:id="rId6"/>
    <p:sldId id="303" r:id="rId7"/>
    <p:sldId id="304" r:id="rId8"/>
    <p:sldId id="305" r:id="rId9"/>
    <p:sldId id="306" r:id="rId10"/>
    <p:sldId id="307" r:id="rId11"/>
    <p:sldId id="308" r:id="rId12"/>
    <p:sldId id="309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>
        <p:scale>
          <a:sx n="100" d="100"/>
          <a:sy n="100" d="100"/>
        </p:scale>
        <p:origin x="1632" y="12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773EFF1-6925-408E-BD6B-DD47F8D56D2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646BC8F-E85E-4A4E-8624-2FB1763FA7C0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1EA2B2-1E79-4C25-92C9-5E1043CE13A5}" type="datetime1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42F9E-BB95-4F71-9AE1-F70066897BB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784BD6-7F83-4568-B70A-F657468A31BA}" type="datetime1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42F9E-BB95-4F71-9AE1-F70066897BB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EAEB94-561B-4D73-B4C6-DF16DE2956B5}" type="datetime1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42F9E-BB95-4F71-9AE1-F70066897BB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2AE7C6-237B-4823-A937-596DB81B6503}" type="datetime1">
              <a:rPr lang="en-US" smtClean="0"/>
              <a:t>5/18/2026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42F9E-BB95-4F71-9AE1-F70066897BB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40A4F7-F0B2-4E58-8485-D498AD748580}" type="datetime1">
              <a:rPr lang="en-US" smtClean="0"/>
              <a:t>5/18/2026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42F9E-BB95-4F71-9AE1-F70066897BB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40CF98-443D-4FA8-80F8-8273D597AFBC}" type="datetime1">
              <a:rPr lang="en-US" smtClean="0"/>
              <a:t>5/18/2026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42F9E-BB95-4F71-9AE1-F70066897BB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68AF73-CCA5-4FB8-833D-EA34EAB01DF1}" type="datetime1">
              <a:rPr lang="en-US" smtClean="0"/>
              <a:t>5/18/2026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42F9E-BB95-4F71-9AE1-F70066897BB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6DC3C-83FE-415E-8EF7-B92C49FFFE51}" type="datetime1">
              <a:rPr lang="en-US" smtClean="0"/>
              <a:t>5/18/2026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42F9E-BB95-4F71-9AE1-F70066897BB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64FAA7-5E91-44CD-A3B7-C41AAA3840C7}" type="datetime1">
              <a:rPr lang="en-US" smtClean="0"/>
              <a:t>5/18/2026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42F9E-BB95-4F71-9AE1-F70066897BB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4DBAEC-7E34-474B-B642-6A7CAEB21945}" type="datetime1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42F9E-BB95-4F71-9AE1-F70066897BB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1B6DD5-4133-4BD0-B384-CDF9750CA1A6}" type="datetime1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42F9E-BB95-4F71-9AE1-F70066897BB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C1D7521-1A90-45FD-85AE-240E2F11EF19}" type="datetime1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2B42F9E-BB95-4F71-9AE1-F70066897BBA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148E7690-EE1F-44FD-8B63-2206B5AC85DA}"/>
              </a:ext>
            </a:extLst>
          </p:cNvPr>
          <p:cNvSpPr/>
          <p:nvPr/>
        </p:nvSpPr>
        <p:spPr>
          <a:xfrm>
            <a:off x="7493000" y="5334000"/>
            <a:ext cx="4318000" cy="1270000"/>
          </a:xfrm>
          <a:prstGeom prst="roundRect">
            <a:avLst/>
          </a:prstGeom>
          <a:solidFill>
            <a:srgbClr val="F4ECF7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121A15F-4A62-47E7-AE72-B5228D8D1B83}"/>
              </a:ext>
            </a:extLst>
          </p:cNvPr>
          <p:cNvSpPr/>
          <p:nvPr/>
        </p:nvSpPr>
        <p:spPr>
          <a:xfrm>
            <a:off x="0" y="0"/>
            <a:ext cx="101600" cy="6858000"/>
          </a:xfrm>
          <a:prstGeom prst="rect">
            <a:avLst/>
          </a:prstGeom>
          <a:solidFill>
            <a:srgbClr val="7030A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08000" y="304800"/>
            <a:ext cx="9144000" cy="1143000"/>
          </a:xfrm>
        </p:spPr>
        <p:txBody>
          <a:bodyPr>
            <a:normAutofit/>
          </a:bodyPr>
          <a:lstStyle/>
          <a:p>
            <a:pPr algn="l">
              <a:lnSpc>
                <a:spcPts val="1800"/>
              </a:lnSpc>
            </a:pPr>
            <a:r>
              <a:rPr lang="vi-VN" sz="1400" b="1" dirty="0">
                <a:solidFill>
                  <a:srgbClr val="7030A0"/>
                </a:solidFill>
                <a:latin typeface="Arial"/>
              </a:rPr>
              <a:t>ĐẠI HỌC QUỐC GIA THÀNH PHỐ HỒ CHÍ MINH</a:t>
            </a:r>
          </a:p>
          <a:p>
            <a:pPr algn="l">
              <a:lnSpc>
                <a:spcPts val="1800"/>
              </a:lnSpc>
            </a:pPr>
            <a:r>
              <a:rPr lang="vi-VN" sz="1400" b="1" dirty="0">
                <a:solidFill>
                  <a:srgbClr val="7030A0"/>
                </a:solidFill>
                <a:latin typeface="Arial"/>
              </a:rPr>
              <a:t>TRƯỜNG ĐẠI HỌC BÁCH KHOA</a:t>
            </a:r>
          </a:p>
          <a:p>
            <a:pPr algn="l">
              <a:lnSpc>
                <a:spcPts val="1800"/>
              </a:lnSpc>
            </a:pPr>
            <a:r>
              <a:rPr lang="vi-VN" sz="1400" dirty="0">
                <a:solidFill>
                  <a:srgbClr val="595959"/>
                </a:solidFill>
                <a:latin typeface="Arial"/>
              </a:rPr>
              <a:t>KHOA ĐIỆN - ĐIỆN TỬ  ·  BỘ MÔN ĐIỆN TỬ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620000" y="5461000"/>
            <a:ext cx="4064000" cy="1016000"/>
          </a:xfrm>
        </p:spPr>
        <p:txBody>
          <a:bodyPr/>
          <a:lstStyle/>
          <a:p>
            <a:pPr marL="0" indent="0" algn="l">
              <a:buNone/>
            </a:pPr>
            <a:r>
              <a:rPr lang="vi-VN" sz="1400" b="1" dirty="0">
                <a:solidFill>
                  <a:srgbClr val="7030A0"/>
                </a:solidFill>
                <a:latin typeface="Arial"/>
              </a:rPr>
              <a:t>Sinh viên thực hiện</a:t>
            </a:r>
          </a:p>
          <a:p>
            <a:pPr marL="0" indent="0" algn="l">
              <a:buNone/>
            </a:pPr>
            <a:r>
              <a:rPr lang="vi-VN" sz="1400" dirty="0">
                <a:solidFill>
                  <a:srgbClr val="404040"/>
                </a:solidFill>
                <a:latin typeface="Arial"/>
              </a:rPr>
              <a:t>Phạm Anh Khôi  ·  MSSV 2251026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95000" y="304800"/>
            <a:ext cx="10160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62000" y="2222500"/>
            <a:ext cx="1066800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vi-VN" sz="1800" b="1" dirty="0">
                <a:solidFill>
                  <a:srgbClr val="595959"/>
                </a:solidFill>
                <a:latin typeface="Arial"/>
              </a:rPr>
              <a:t>ĐỒ ÁN CHUYÊN NGÀNH 2  ·  BÁO CÁO THIẾT KẾ HỆ THỐNG</a:t>
            </a:r>
          </a:p>
          <a:p>
            <a:pPr marL="0" indent="0" algn="ctr">
              <a:buNone/>
            </a:pPr>
            <a:r>
              <a:rPr lang="en-US" sz="4400" b="1" dirty="0">
                <a:solidFill>
                  <a:srgbClr val="7030A0"/>
                </a:solidFill>
                <a:latin typeface="Arial"/>
              </a:rPr>
              <a:t>RISC-V + VPU</a:t>
            </a:r>
          </a:p>
          <a:p>
            <a:pPr marL="0" indent="0" algn="ctr">
              <a:buNone/>
            </a:pPr>
            <a:r>
              <a:rPr lang="vi-VN" sz="2000" dirty="0">
                <a:solidFill>
                  <a:srgbClr val="404040"/>
                </a:solidFill>
                <a:latin typeface="Arial"/>
              </a:rPr>
              <a:t>Vector Processing Unit Integration</a:t>
            </a:r>
          </a:p>
          <a:p>
            <a:pPr marL="0" indent="0" algn="ctr">
              <a:buNone/>
            </a:pPr>
            <a:r>
              <a:rPr lang="en-US" sz="1400" dirty="0">
                <a:solidFill>
                  <a:srgbClr val="7F7F7F"/>
                </a:solidFill>
                <a:latin typeface="Arial"/>
              </a:rPr>
              <a:t>VLSU  ·  Core Interface  ·  Memory  ·  UART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375F4F5-2E20-46C5-8C05-5E4AC8E97DC8}"/>
              </a:ext>
            </a:extLst>
          </p:cNvPr>
          <p:cNvSpPr/>
          <p:nvPr/>
        </p:nvSpPr>
        <p:spPr>
          <a:xfrm>
            <a:off x="4826000" y="4064000"/>
            <a:ext cx="2540000" cy="50800"/>
          </a:xfrm>
          <a:prstGeom prst="rect">
            <a:avLst/>
          </a:prstGeom>
          <a:solidFill>
            <a:srgbClr val="7030A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33581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83CD701-6E34-4DC4-8A28-2068DCEFB136}"/>
              </a:ext>
            </a:extLst>
          </p:cNvPr>
          <p:cNvSpPr/>
          <p:nvPr/>
        </p:nvSpPr>
        <p:spPr>
          <a:xfrm>
            <a:off x="0" y="0"/>
            <a:ext cx="101600" cy="6858000"/>
          </a:xfrm>
          <a:prstGeom prst="rect">
            <a:avLst/>
          </a:prstGeom>
          <a:solidFill>
            <a:srgbClr val="7030A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E2EA282-FDF9-4A31-813D-DE173D11149B}"/>
              </a:ext>
            </a:extLst>
          </p:cNvPr>
          <p:cNvSpPr txBox="1"/>
          <p:nvPr/>
        </p:nvSpPr>
        <p:spPr>
          <a:xfrm>
            <a:off x="508000" y="381000"/>
            <a:ext cx="11176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800" b="1">
                <a:solidFill>
                  <a:srgbClr val="7030A0"/>
                </a:solidFill>
                <a:latin typeface="Arial"/>
                <a:cs typeface="Arial"/>
              </a:rPr>
              <a:t>WAVEFORM ANALYSIS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4021CE2-5CE1-4E59-AB56-F4C875074224}"/>
              </a:ext>
            </a:extLst>
          </p:cNvPr>
          <p:cNvSpPr txBox="1"/>
          <p:nvPr/>
        </p:nvSpPr>
        <p:spPr>
          <a:xfrm>
            <a:off x="508000" y="990600"/>
            <a:ext cx="11176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600">
                <a:solidFill>
                  <a:srgbClr val="595959"/>
                </a:solidFill>
                <a:latin typeface="Arial"/>
                <a:cs typeface="Arial"/>
              </a:rPr>
              <a:t>Mục tiêu kiểm tra và tín hiệu cần quan sát cho 4 module chính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72C8EA1-FDBC-4C1B-A191-30586F940E78}"/>
              </a:ext>
            </a:extLst>
          </p:cNvPr>
          <p:cNvSpPr/>
          <p:nvPr/>
        </p:nvSpPr>
        <p:spPr>
          <a:xfrm>
            <a:off x="508000" y="1447800"/>
            <a:ext cx="762000" cy="38100"/>
          </a:xfrm>
          <a:prstGeom prst="rect">
            <a:avLst/>
          </a:prstGeom>
          <a:solidFill>
            <a:srgbClr val="7030A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A6706229-5F4E-4F29-AC56-5AE2439A94E1}"/>
              </a:ext>
            </a:extLst>
          </p:cNvPr>
          <p:cNvSpPr/>
          <p:nvPr/>
        </p:nvSpPr>
        <p:spPr>
          <a:xfrm>
            <a:off x="508000" y="1841500"/>
            <a:ext cx="5397500" cy="2222500"/>
          </a:xfrm>
          <a:prstGeom prst="roundRect">
            <a:avLst/>
          </a:prstGeom>
          <a:solidFill>
            <a:srgbClr val="F8F4FB"/>
          </a:solidFill>
          <a:ln w="12700" cap="flat" cmpd="sng" algn="ctr">
            <a:solidFill>
              <a:srgbClr val="D9C7E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CAC5BE1E-6D2D-4F6E-9649-688CF9B9B5E4}"/>
              </a:ext>
            </a:extLst>
          </p:cNvPr>
          <p:cNvSpPr/>
          <p:nvPr/>
        </p:nvSpPr>
        <p:spPr>
          <a:xfrm>
            <a:off x="736600" y="2070100"/>
            <a:ext cx="457200" cy="457200"/>
          </a:xfrm>
          <a:prstGeom prst="ellipse">
            <a:avLst/>
          </a:prstGeom>
          <a:solidFill>
            <a:srgbClr val="7030A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600" b="1">
                <a:solidFill>
                  <a:srgbClr val="FFFFFF"/>
                </a:solidFill>
                <a:latin typeface="Arial"/>
                <a:cs typeface="Arial"/>
              </a:rPr>
              <a:t>1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370C695C-05BF-4C84-8777-34A27B6FF058}"/>
              </a:ext>
            </a:extLst>
          </p:cNvPr>
          <p:cNvSpPr/>
          <p:nvPr/>
        </p:nvSpPr>
        <p:spPr>
          <a:xfrm>
            <a:off x="6286500" y="1841500"/>
            <a:ext cx="5397500" cy="2222500"/>
          </a:xfrm>
          <a:prstGeom prst="roundRect">
            <a:avLst/>
          </a:prstGeom>
          <a:solidFill>
            <a:srgbClr val="F8F4FB"/>
          </a:solidFill>
          <a:ln w="12700" cap="flat" cmpd="sng" algn="ctr">
            <a:solidFill>
              <a:srgbClr val="D9C7E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8BE37E33-FCAC-4F37-AAC6-5EC853B2806D}"/>
              </a:ext>
            </a:extLst>
          </p:cNvPr>
          <p:cNvSpPr/>
          <p:nvPr/>
        </p:nvSpPr>
        <p:spPr>
          <a:xfrm>
            <a:off x="6515100" y="2070100"/>
            <a:ext cx="457200" cy="457200"/>
          </a:xfrm>
          <a:prstGeom prst="ellipse">
            <a:avLst/>
          </a:prstGeom>
          <a:solidFill>
            <a:srgbClr val="7030A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600" b="1">
                <a:solidFill>
                  <a:srgbClr val="FFFFFF"/>
                </a:solidFill>
                <a:latin typeface="Arial"/>
                <a:cs typeface="Arial"/>
              </a:rPr>
              <a:t>2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2EAF31A6-EF37-457D-A55C-92D0BC18B1AB}"/>
              </a:ext>
            </a:extLst>
          </p:cNvPr>
          <p:cNvSpPr/>
          <p:nvPr/>
        </p:nvSpPr>
        <p:spPr>
          <a:xfrm>
            <a:off x="508000" y="4318000"/>
            <a:ext cx="5397500" cy="2222500"/>
          </a:xfrm>
          <a:prstGeom prst="roundRect">
            <a:avLst/>
          </a:prstGeom>
          <a:solidFill>
            <a:srgbClr val="F8F4FB"/>
          </a:solidFill>
          <a:ln w="12700" cap="flat" cmpd="sng" algn="ctr">
            <a:solidFill>
              <a:srgbClr val="D9C7E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9FA6D529-A0A7-44A2-BF83-01EC2E555D4E}"/>
              </a:ext>
            </a:extLst>
          </p:cNvPr>
          <p:cNvSpPr/>
          <p:nvPr/>
        </p:nvSpPr>
        <p:spPr>
          <a:xfrm>
            <a:off x="736600" y="4546600"/>
            <a:ext cx="457200" cy="457200"/>
          </a:xfrm>
          <a:prstGeom prst="ellipse">
            <a:avLst/>
          </a:prstGeom>
          <a:solidFill>
            <a:srgbClr val="7030A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600" b="1">
                <a:solidFill>
                  <a:srgbClr val="FFFFFF"/>
                </a:solidFill>
                <a:latin typeface="Arial"/>
                <a:cs typeface="Arial"/>
              </a:rPr>
              <a:t>3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028E7D0E-C53C-420E-81E6-A0DF472612AA}"/>
              </a:ext>
            </a:extLst>
          </p:cNvPr>
          <p:cNvSpPr/>
          <p:nvPr/>
        </p:nvSpPr>
        <p:spPr>
          <a:xfrm>
            <a:off x="6286500" y="4318000"/>
            <a:ext cx="5397500" cy="2222500"/>
          </a:xfrm>
          <a:prstGeom prst="roundRect">
            <a:avLst/>
          </a:prstGeom>
          <a:solidFill>
            <a:srgbClr val="F8F4FB"/>
          </a:solidFill>
          <a:ln w="12700" cap="flat" cmpd="sng" algn="ctr">
            <a:solidFill>
              <a:srgbClr val="D9C7E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73946477-08B7-45E7-A5D0-2E2542178E48}"/>
              </a:ext>
            </a:extLst>
          </p:cNvPr>
          <p:cNvSpPr/>
          <p:nvPr/>
        </p:nvSpPr>
        <p:spPr>
          <a:xfrm>
            <a:off x="6515100" y="4546600"/>
            <a:ext cx="457200" cy="457200"/>
          </a:xfrm>
          <a:prstGeom prst="ellipse">
            <a:avLst/>
          </a:prstGeom>
          <a:solidFill>
            <a:srgbClr val="7030A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600" b="1">
                <a:solidFill>
                  <a:srgbClr val="FFFFFF"/>
                </a:solidFill>
                <a:latin typeface="Arial"/>
                <a:cs typeface="Arial"/>
              </a:rPr>
              <a:t>4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2B2CED5-22A5-47EF-BD4B-ECEAFECAD463}"/>
              </a:ext>
            </a:extLst>
          </p:cNvPr>
          <p:cNvSpPr txBox="1"/>
          <p:nvPr/>
        </p:nvSpPr>
        <p:spPr>
          <a:xfrm>
            <a:off x="1333500" y="2044700"/>
            <a:ext cx="4318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b="1">
                <a:solidFill>
                  <a:srgbClr val="7030A0"/>
                </a:solidFill>
                <a:latin typeface="Arial"/>
                <a:cs typeface="Arial"/>
              </a:rPr>
              <a:t>VLSU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9AB0DDD-F177-4BCF-B13D-DD7B2939B586}"/>
              </a:ext>
            </a:extLst>
          </p:cNvPr>
          <p:cNvSpPr txBox="1"/>
          <p:nvPr/>
        </p:nvSpPr>
        <p:spPr>
          <a:xfrm>
            <a:off x="1333500" y="2349500"/>
            <a:ext cx="4318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200" i="1">
                <a:solidFill>
                  <a:srgbClr val="7F7F7F"/>
                </a:solidFill>
                <a:latin typeface="Arial"/>
                <a:cs typeface="Arial"/>
              </a:rPr>
              <a:t>Vector Load/Store Unit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F0E358D-A4BF-43E6-AC08-8FD1AFAF3734}"/>
              </a:ext>
            </a:extLst>
          </p:cNvPr>
          <p:cNvSpPr txBox="1"/>
          <p:nvPr/>
        </p:nvSpPr>
        <p:spPr>
          <a:xfrm>
            <a:off x="762000" y="2755900"/>
            <a:ext cx="1270000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000" b="1">
                <a:solidFill>
                  <a:srgbClr val="7030A0"/>
                </a:solidFill>
                <a:latin typeface="Arial"/>
                <a:cs typeface="Arial"/>
              </a:rPr>
              <a:t>MỤC TIÊU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2122620-8D4A-4D0B-85C5-500389D70FC8}"/>
              </a:ext>
            </a:extLst>
          </p:cNvPr>
          <p:cNvSpPr txBox="1"/>
          <p:nvPr/>
        </p:nvSpPr>
        <p:spPr>
          <a:xfrm>
            <a:off x="762000" y="2984500"/>
            <a:ext cx="4889500" cy="482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300">
                <a:solidFill>
                  <a:srgbClr val="262626"/>
                </a:solidFill>
                <a:latin typeface="Arial"/>
                <a:cs typeface="Arial"/>
              </a:rPr>
              <a:t>Kiểm tra burst transaction và alignment khi load/store vector data.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EE1468C-C9E5-44CC-8CB9-88846386C441}"/>
              </a:ext>
            </a:extLst>
          </p:cNvPr>
          <p:cNvSpPr txBox="1"/>
          <p:nvPr/>
        </p:nvSpPr>
        <p:spPr>
          <a:xfrm>
            <a:off x="762000" y="3492500"/>
            <a:ext cx="1270000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000" b="1">
                <a:solidFill>
                  <a:srgbClr val="7030A0"/>
                </a:solidFill>
                <a:latin typeface="Arial"/>
                <a:cs typeface="Arial"/>
              </a:rPr>
              <a:t>TÍN HIỆU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A248B87-91FE-4875-A280-A1FD84902C89}"/>
              </a:ext>
            </a:extLst>
          </p:cNvPr>
          <p:cNvSpPr txBox="1"/>
          <p:nvPr/>
        </p:nvSpPr>
        <p:spPr>
          <a:xfrm>
            <a:off x="762000" y="3721100"/>
            <a:ext cx="48895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100">
                <a:solidFill>
                  <a:srgbClr val="404040"/>
                </a:solidFill>
                <a:latin typeface="Consolas"/>
              </a:rPr>
              <a:t>vlsu_req · vlsu_addr · vlsu_data · vlsu_valid · vlsu_ready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823626C-9BC3-48AF-934A-7561C3B4083E}"/>
              </a:ext>
            </a:extLst>
          </p:cNvPr>
          <p:cNvSpPr txBox="1"/>
          <p:nvPr/>
        </p:nvSpPr>
        <p:spPr>
          <a:xfrm>
            <a:off x="7112000" y="2044700"/>
            <a:ext cx="4318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b="1">
                <a:solidFill>
                  <a:srgbClr val="7030A0"/>
                </a:solidFill>
                <a:latin typeface="Arial"/>
                <a:cs typeface="Arial"/>
              </a:rPr>
              <a:t>Core Interface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A03095F-91F7-49CD-A5A7-F60C5DC4E612}"/>
              </a:ext>
            </a:extLst>
          </p:cNvPr>
          <p:cNvSpPr txBox="1"/>
          <p:nvPr/>
        </p:nvSpPr>
        <p:spPr>
          <a:xfrm>
            <a:off x="7112000" y="2349500"/>
            <a:ext cx="4318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200" i="1">
                <a:solidFill>
                  <a:srgbClr val="7F7F7F"/>
                </a:solidFill>
                <a:latin typeface="Arial"/>
                <a:cs typeface="Arial"/>
              </a:rPr>
              <a:t>RISC-V ↔ VPU Handshake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DA68F49-2532-4E44-B9A3-A3F7BBB692D5}"/>
              </a:ext>
            </a:extLst>
          </p:cNvPr>
          <p:cNvSpPr txBox="1"/>
          <p:nvPr/>
        </p:nvSpPr>
        <p:spPr>
          <a:xfrm>
            <a:off x="6540500" y="2755900"/>
            <a:ext cx="1270000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000" b="1">
                <a:solidFill>
                  <a:srgbClr val="7030A0"/>
                </a:solidFill>
                <a:latin typeface="Arial"/>
                <a:cs typeface="Arial"/>
              </a:rPr>
              <a:t>MỤC TIÊU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E27FC2D-63AD-4906-89DB-C4E9BE557826}"/>
              </a:ext>
            </a:extLst>
          </p:cNvPr>
          <p:cNvSpPr txBox="1"/>
          <p:nvPr/>
        </p:nvSpPr>
        <p:spPr>
          <a:xfrm>
            <a:off x="6540500" y="2984500"/>
            <a:ext cx="4889500" cy="482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300">
                <a:solidFill>
                  <a:srgbClr val="262626"/>
                </a:solidFill>
                <a:latin typeface="Arial"/>
                <a:cs typeface="Arial"/>
              </a:rPr>
              <a:t>Verify protocol dispatch instruction và writeback từ VPU về core.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DB1A251-0D90-4694-A3BD-3EB9AAA56674}"/>
              </a:ext>
            </a:extLst>
          </p:cNvPr>
          <p:cNvSpPr txBox="1"/>
          <p:nvPr/>
        </p:nvSpPr>
        <p:spPr>
          <a:xfrm>
            <a:off x="6540500" y="3492500"/>
            <a:ext cx="1270000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000" b="1">
                <a:solidFill>
                  <a:srgbClr val="7030A0"/>
                </a:solidFill>
                <a:latin typeface="Arial"/>
                <a:cs typeface="Arial"/>
              </a:rPr>
              <a:t>TÍN HIỆU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FD1E560-FD48-41A7-AE6D-079E332F35F6}"/>
              </a:ext>
            </a:extLst>
          </p:cNvPr>
          <p:cNvSpPr txBox="1"/>
          <p:nvPr/>
        </p:nvSpPr>
        <p:spPr>
          <a:xfrm>
            <a:off x="6540500" y="3721100"/>
            <a:ext cx="48895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100">
                <a:solidFill>
                  <a:srgbClr val="404040"/>
                </a:solidFill>
                <a:latin typeface="Consolas"/>
              </a:rPr>
              <a:t>vpu_req · vpu_ack · instr · rs1/rs2 · vd_wb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1A5A1FF-1ADA-4DA5-B17A-5F5AFF0B78C4}"/>
              </a:ext>
            </a:extLst>
          </p:cNvPr>
          <p:cNvSpPr txBox="1"/>
          <p:nvPr/>
        </p:nvSpPr>
        <p:spPr>
          <a:xfrm>
            <a:off x="1333500" y="4521200"/>
            <a:ext cx="4318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b="1">
                <a:solidFill>
                  <a:srgbClr val="7030A0"/>
                </a:solidFill>
                <a:latin typeface="Arial"/>
                <a:cs typeface="Arial"/>
              </a:rPr>
              <a:t>Memory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4D9B839-82E6-412D-9245-EF4061602951}"/>
              </a:ext>
            </a:extLst>
          </p:cNvPr>
          <p:cNvSpPr txBox="1"/>
          <p:nvPr/>
        </p:nvSpPr>
        <p:spPr>
          <a:xfrm>
            <a:off x="1333500" y="4826000"/>
            <a:ext cx="4318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200" i="1">
                <a:solidFill>
                  <a:srgbClr val="7F7F7F"/>
                </a:solidFill>
                <a:latin typeface="Arial"/>
                <a:cs typeface="Arial"/>
              </a:rPr>
              <a:t>Memory Subsystem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7756F26-F41A-45E4-A21A-35D4DF93C2C0}"/>
              </a:ext>
            </a:extLst>
          </p:cNvPr>
          <p:cNvSpPr txBox="1"/>
          <p:nvPr/>
        </p:nvSpPr>
        <p:spPr>
          <a:xfrm>
            <a:off x="762000" y="5232400"/>
            <a:ext cx="1270000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000" b="1">
                <a:solidFill>
                  <a:srgbClr val="7030A0"/>
                </a:solidFill>
                <a:latin typeface="Arial"/>
                <a:cs typeface="Arial"/>
              </a:rPr>
              <a:t>MỤC TIÊU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AF7C18D-6574-4887-829F-A87C6C8284D0}"/>
              </a:ext>
            </a:extLst>
          </p:cNvPr>
          <p:cNvSpPr txBox="1"/>
          <p:nvPr/>
        </p:nvSpPr>
        <p:spPr>
          <a:xfrm>
            <a:off x="762000" y="5461000"/>
            <a:ext cx="4889500" cy="482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300">
                <a:solidFill>
                  <a:srgbClr val="262626"/>
                </a:solidFill>
                <a:latin typeface="Arial"/>
                <a:cs typeface="Arial"/>
              </a:rPr>
              <a:t>Đánh giá latency, stall cycles và bandwidth khi nhiều master truy cập.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B9B6DD6-17B2-4825-B92A-124D806C0940}"/>
              </a:ext>
            </a:extLst>
          </p:cNvPr>
          <p:cNvSpPr txBox="1"/>
          <p:nvPr/>
        </p:nvSpPr>
        <p:spPr>
          <a:xfrm>
            <a:off x="762000" y="5969000"/>
            <a:ext cx="1270000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000" b="1">
                <a:solidFill>
                  <a:srgbClr val="7030A0"/>
                </a:solidFill>
                <a:latin typeface="Arial"/>
                <a:cs typeface="Arial"/>
              </a:rPr>
              <a:t>TÍN HIỆU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C575266-7644-4B83-A88D-9CDB050C2182}"/>
              </a:ext>
            </a:extLst>
          </p:cNvPr>
          <p:cNvSpPr txBox="1"/>
          <p:nvPr/>
        </p:nvSpPr>
        <p:spPr>
          <a:xfrm>
            <a:off x="762000" y="6197600"/>
            <a:ext cx="48895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pl-PL" sz="1100">
                <a:solidFill>
                  <a:srgbClr val="404040"/>
                </a:solidFill>
                <a:latin typeface="Consolas"/>
              </a:rPr>
              <a:t>mem_addr · mem_wdata · mem_rdata · mem_we · mem_stall</a:t>
            </a:r>
            <a:endParaRPr lang="en-US" sz="1100">
              <a:solidFill>
                <a:srgbClr val="404040"/>
              </a:solidFill>
              <a:latin typeface="Consolas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442F362-40F9-4E9A-AFC9-411FF0932E13}"/>
              </a:ext>
            </a:extLst>
          </p:cNvPr>
          <p:cNvSpPr txBox="1"/>
          <p:nvPr/>
        </p:nvSpPr>
        <p:spPr>
          <a:xfrm>
            <a:off x="7112000" y="4521200"/>
            <a:ext cx="4318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b="1">
                <a:solidFill>
                  <a:srgbClr val="7030A0"/>
                </a:solidFill>
                <a:latin typeface="Arial"/>
                <a:cs typeface="Arial"/>
              </a:rPr>
              <a:t>UART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ACFF8CC-4D01-4692-894E-54EEC1E9B513}"/>
              </a:ext>
            </a:extLst>
          </p:cNvPr>
          <p:cNvSpPr txBox="1"/>
          <p:nvPr/>
        </p:nvSpPr>
        <p:spPr>
          <a:xfrm>
            <a:off x="7112000" y="4826000"/>
            <a:ext cx="4318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200" i="1">
                <a:solidFill>
                  <a:srgbClr val="7F7F7F"/>
                </a:solidFill>
                <a:latin typeface="Arial"/>
                <a:cs typeface="Arial"/>
              </a:rPr>
              <a:t>Serial I/O Debug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090092B-A6EA-434C-953E-16B4074E932E}"/>
              </a:ext>
            </a:extLst>
          </p:cNvPr>
          <p:cNvSpPr txBox="1"/>
          <p:nvPr/>
        </p:nvSpPr>
        <p:spPr>
          <a:xfrm>
            <a:off x="6540500" y="5232400"/>
            <a:ext cx="1270000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000" b="1">
                <a:solidFill>
                  <a:srgbClr val="7030A0"/>
                </a:solidFill>
                <a:latin typeface="Arial"/>
                <a:cs typeface="Arial"/>
              </a:rPr>
              <a:t>MỤC TIÊU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58B9E2F-DB40-41B6-A1A3-9DDE5DCCC2E6}"/>
              </a:ext>
            </a:extLst>
          </p:cNvPr>
          <p:cNvSpPr txBox="1"/>
          <p:nvPr/>
        </p:nvSpPr>
        <p:spPr>
          <a:xfrm>
            <a:off x="6540500" y="5461000"/>
            <a:ext cx="4889500" cy="482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300">
                <a:solidFill>
                  <a:srgbClr val="262626"/>
                </a:solidFill>
                <a:latin typeface="Arial"/>
                <a:cs typeface="Arial"/>
              </a:rPr>
              <a:t>Verify timing baud rate, framing và full-duplex tx/rx.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87ABC1B7-4139-418C-8B7D-ED5259D0F092}"/>
              </a:ext>
            </a:extLst>
          </p:cNvPr>
          <p:cNvSpPr txBox="1"/>
          <p:nvPr/>
        </p:nvSpPr>
        <p:spPr>
          <a:xfrm>
            <a:off x="6540500" y="5969000"/>
            <a:ext cx="1270000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000" b="1">
                <a:solidFill>
                  <a:srgbClr val="7030A0"/>
                </a:solidFill>
                <a:latin typeface="Arial"/>
                <a:cs typeface="Arial"/>
              </a:rPr>
              <a:t>TÍN HIỆU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AE4B2049-3B2C-419C-8A76-5197842BFD16}"/>
              </a:ext>
            </a:extLst>
          </p:cNvPr>
          <p:cNvSpPr txBox="1"/>
          <p:nvPr/>
        </p:nvSpPr>
        <p:spPr>
          <a:xfrm>
            <a:off x="6540500" y="6197600"/>
            <a:ext cx="48895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100">
                <a:solidFill>
                  <a:srgbClr val="404040"/>
                </a:solidFill>
                <a:latin typeface="Consolas"/>
              </a:rPr>
              <a:t>tx · rx · baud_tick · tx_busy · rx_valid</a:t>
            </a:r>
          </a:p>
        </p:txBody>
      </p:sp>
    </p:spTree>
    <p:extLst>
      <p:ext uri="{BB962C8B-B14F-4D97-AF65-F5344CB8AC3E}">
        <p14:creationId xmlns:p14="http://schemas.microsoft.com/office/powerpoint/2010/main" val="14814529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E9094A4-C443-44B3-8223-F88DF45DF357}"/>
              </a:ext>
            </a:extLst>
          </p:cNvPr>
          <p:cNvSpPr/>
          <p:nvPr/>
        </p:nvSpPr>
        <p:spPr>
          <a:xfrm>
            <a:off x="0" y="0"/>
            <a:ext cx="101600" cy="6858000"/>
          </a:xfrm>
          <a:prstGeom prst="rect">
            <a:avLst/>
          </a:prstGeom>
          <a:solidFill>
            <a:srgbClr val="7030A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A000007-D80F-453A-B0DF-8AA07B89DABA}"/>
              </a:ext>
            </a:extLst>
          </p:cNvPr>
          <p:cNvSpPr txBox="1"/>
          <p:nvPr/>
        </p:nvSpPr>
        <p:spPr>
          <a:xfrm>
            <a:off x="508000" y="381000"/>
            <a:ext cx="11176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800" b="1">
                <a:solidFill>
                  <a:srgbClr val="7030A0"/>
                </a:solidFill>
                <a:latin typeface="Arial"/>
                <a:cs typeface="Arial"/>
              </a:rPr>
              <a:t>WAVEFORM CAPTURES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74B45CD-8440-491E-BC48-216D354BF5CE}"/>
              </a:ext>
            </a:extLst>
          </p:cNvPr>
          <p:cNvSpPr txBox="1"/>
          <p:nvPr/>
        </p:nvSpPr>
        <p:spPr>
          <a:xfrm>
            <a:off x="508000" y="990600"/>
            <a:ext cx="11176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600">
                <a:solidFill>
                  <a:srgbClr val="595959"/>
                </a:solidFill>
                <a:latin typeface="Arial"/>
                <a:cs typeface="Arial"/>
              </a:rPr>
              <a:t>Kết quả mô phỏng RTL — chèn screenshot từ ModelSim / Vivado / GTKWave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4285D52-ED3D-473B-B45A-4E1FB3895D1E}"/>
              </a:ext>
            </a:extLst>
          </p:cNvPr>
          <p:cNvSpPr/>
          <p:nvPr/>
        </p:nvSpPr>
        <p:spPr>
          <a:xfrm>
            <a:off x="508000" y="1447800"/>
            <a:ext cx="762000" cy="38100"/>
          </a:xfrm>
          <a:prstGeom prst="rect">
            <a:avLst/>
          </a:prstGeom>
          <a:solidFill>
            <a:srgbClr val="7030A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BD581AE-458B-4776-BBA9-D16EE1EA7711}"/>
              </a:ext>
            </a:extLst>
          </p:cNvPr>
          <p:cNvSpPr/>
          <p:nvPr/>
        </p:nvSpPr>
        <p:spPr>
          <a:xfrm>
            <a:off x="508000" y="1841500"/>
            <a:ext cx="5397500" cy="355600"/>
          </a:xfrm>
          <a:prstGeom prst="rect">
            <a:avLst/>
          </a:prstGeom>
          <a:solidFill>
            <a:srgbClr val="7030A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300" b="1">
                <a:solidFill>
                  <a:srgbClr val="FFFFFF"/>
                </a:solidFill>
                <a:latin typeface="Arial"/>
                <a:cs typeface="Arial"/>
              </a:rPr>
              <a:t>VLSU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0778EC2-F858-4A9F-A9B8-559CBDD649A9}"/>
              </a:ext>
            </a:extLst>
          </p:cNvPr>
          <p:cNvSpPr/>
          <p:nvPr/>
        </p:nvSpPr>
        <p:spPr>
          <a:xfrm>
            <a:off x="508000" y="2197100"/>
            <a:ext cx="5397500" cy="1536700"/>
          </a:xfrm>
          <a:prstGeom prst="rect">
            <a:avLst/>
          </a:prstGeom>
          <a:solidFill>
            <a:srgbClr val="FAFAFA"/>
          </a:solidFill>
          <a:ln w="12700" cap="flat" cmpd="sng" algn="ctr">
            <a:solidFill>
              <a:srgbClr val="D9D9D9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en-US" sz="1200" i="1">
                <a:solidFill>
                  <a:srgbClr val="A6A6A6"/>
                </a:solidFill>
                <a:latin typeface="Arial"/>
                <a:cs typeface="Arial"/>
              </a:rPr>
              <a:t>[ Paste waveform screenshot tại đây ]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1ED3AB3-B70D-4D72-B362-F225C6AB38BD}"/>
              </a:ext>
            </a:extLst>
          </p:cNvPr>
          <p:cNvSpPr txBox="1"/>
          <p:nvPr/>
        </p:nvSpPr>
        <p:spPr>
          <a:xfrm>
            <a:off x="508000" y="3759200"/>
            <a:ext cx="53975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100">
                <a:solidFill>
                  <a:srgbClr val="595959"/>
                </a:solidFill>
                <a:latin typeface="Arial"/>
                <a:cs typeface="Arial"/>
              </a:rPr>
              <a:t>Burst transaction, alignment kiểm tra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CB689B9-3CA2-45FA-BAF1-13339240DF1D}"/>
              </a:ext>
            </a:extLst>
          </p:cNvPr>
          <p:cNvSpPr/>
          <p:nvPr/>
        </p:nvSpPr>
        <p:spPr>
          <a:xfrm>
            <a:off x="6286500" y="1841500"/>
            <a:ext cx="5397500" cy="355600"/>
          </a:xfrm>
          <a:prstGeom prst="rect">
            <a:avLst/>
          </a:prstGeom>
          <a:solidFill>
            <a:srgbClr val="7030A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300" b="1">
                <a:solidFill>
                  <a:srgbClr val="FFFFFF"/>
                </a:solidFill>
                <a:latin typeface="Arial"/>
                <a:cs typeface="Arial"/>
              </a:rPr>
              <a:t>Core Interface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BB485FC-961C-440E-85F8-83A08B3C97D1}"/>
              </a:ext>
            </a:extLst>
          </p:cNvPr>
          <p:cNvSpPr/>
          <p:nvPr/>
        </p:nvSpPr>
        <p:spPr>
          <a:xfrm>
            <a:off x="6286500" y="2197100"/>
            <a:ext cx="5397500" cy="1536700"/>
          </a:xfrm>
          <a:prstGeom prst="rect">
            <a:avLst/>
          </a:prstGeom>
          <a:solidFill>
            <a:srgbClr val="FAFAFA"/>
          </a:solidFill>
          <a:ln w="12700" cap="flat" cmpd="sng" algn="ctr">
            <a:solidFill>
              <a:srgbClr val="D9D9D9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en-US" sz="1200" i="1">
                <a:solidFill>
                  <a:srgbClr val="A6A6A6"/>
                </a:solidFill>
                <a:latin typeface="Arial"/>
                <a:cs typeface="Arial"/>
              </a:rPr>
              <a:t>[ Paste waveform screenshot tại đây ]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BEA2CC5-A82A-43AD-B0E9-F180AFD6AA6A}"/>
              </a:ext>
            </a:extLst>
          </p:cNvPr>
          <p:cNvSpPr txBox="1"/>
          <p:nvPr/>
        </p:nvSpPr>
        <p:spPr>
          <a:xfrm>
            <a:off x="6286500" y="3759200"/>
            <a:ext cx="53975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100">
                <a:solidFill>
                  <a:srgbClr val="595959"/>
                </a:solidFill>
                <a:latin typeface="Arial"/>
                <a:cs typeface="Arial"/>
              </a:rPr>
              <a:t>Dispatch handshake giữa core và VPU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65ABC36-9259-464F-BEE0-647C52FD3D92}"/>
              </a:ext>
            </a:extLst>
          </p:cNvPr>
          <p:cNvSpPr/>
          <p:nvPr/>
        </p:nvSpPr>
        <p:spPr>
          <a:xfrm>
            <a:off x="508000" y="4318000"/>
            <a:ext cx="5397500" cy="355600"/>
          </a:xfrm>
          <a:prstGeom prst="rect">
            <a:avLst/>
          </a:prstGeom>
          <a:solidFill>
            <a:srgbClr val="7030A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300" b="1">
                <a:solidFill>
                  <a:srgbClr val="FFFFFF"/>
                </a:solidFill>
                <a:latin typeface="Arial"/>
                <a:cs typeface="Arial"/>
              </a:rPr>
              <a:t>Memory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D4986D8-F285-4287-B0F6-495784EC5624}"/>
              </a:ext>
            </a:extLst>
          </p:cNvPr>
          <p:cNvSpPr/>
          <p:nvPr/>
        </p:nvSpPr>
        <p:spPr>
          <a:xfrm>
            <a:off x="508000" y="4673600"/>
            <a:ext cx="5397500" cy="1536700"/>
          </a:xfrm>
          <a:prstGeom prst="rect">
            <a:avLst/>
          </a:prstGeom>
          <a:solidFill>
            <a:srgbClr val="FAFAFA"/>
          </a:solidFill>
          <a:ln w="12700" cap="flat" cmpd="sng" algn="ctr">
            <a:solidFill>
              <a:srgbClr val="D9D9D9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en-US" sz="1200" i="1">
                <a:solidFill>
                  <a:srgbClr val="A6A6A6"/>
                </a:solidFill>
                <a:latin typeface="Arial"/>
                <a:cs typeface="Arial"/>
              </a:rPr>
              <a:t>[ Paste waveform screenshot tại đây ]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BF7816A-8C6C-4857-8003-CE254A5DBF2B}"/>
              </a:ext>
            </a:extLst>
          </p:cNvPr>
          <p:cNvSpPr txBox="1"/>
          <p:nvPr/>
        </p:nvSpPr>
        <p:spPr>
          <a:xfrm>
            <a:off x="508000" y="6235700"/>
            <a:ext cx="53975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100">
                <a:solidFill>
                  <a:srgbClr val="595959"/>
                </a:solidFill>
                <a:latin typeface="Arial"/>
                <a:cs typeface="Arial"/>
              </a:rPr>
              <a:t>Read/write latency và stall cycles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CC9B0FC-2DDF-414F-87D1-9E9BD4EE322E}"/>
              </a:ext>
            </a:extLst>
          </p:cNvPr>
          <p:cNvSpPr/>
          <p:nvPr/>
        </p:nvSpPr>
        <p:spPr>
          <a:xfrm>
            <a:off x="6286500" y="4318000"/>
            <a:ext cx="5397500" cy="355600"/>
          </a:xfrm>
          <a:prstGeom prst="rect">
            <a:avLst/>
          </a:prstGeom>
          <a:solidFill>
            <a:srgbClr val="7030A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300" b="1">
                <a:solidFill>
                  <a:srgbClr val="FFFFFF"/>
                </a:solidFill>
                <a:latin typeface="Arial"/>
                <a:cs typeface="Arial"/>
              </a:rPr>
              <a:t>UART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5078312-A012-41AC-9E4B-01442F9AF1DB}"/>
              </a:ext>
            </a:extLst>
          </p:cNvPr>
          <p:cNvSpPr/>
          <p:nvPr/>
        </p:nvSpPr>
        <p:spPr>
          <a:xfrm>
            <a:off x="6286500" y="4673600"/>
            <a:ext cx="5397500" cy="1536700"/>
          </a:xfrm>
          <a:prstGeom prst="rect">
            <a:avLst/>
          </a:prstGeom>
          <a:solidFill>
            <a:srgbClr val="FAFAFA"/>
          </a:solidFill>
          <a:ln w="12700" cap="flat" cmpd="sng" algn="ctr">
            <a:solidFill>
              <a:srgbClr val="D9D9D9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en-US" sz="1200" i="1">
                <a:solidFill>
                  <a:srgbClr val="A6A6A6"/>
                </a:solidFill>
                <a:latin typeface="Arial"/>
                <a:cs typeface="Arial"/>
              </a:rPr>
              <a:t>[ Paste waveform screenshot tại đây ]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7E80399-3317-4A79-B172-BC15E5F0F38A}"/>
              </a:ext>
            </a:extLst>
          </p:cNvPr>
          <p:cNvSpPr txBox="1"/>
          <p:nvPr/>
        </p:nvSpPr>
        <p:spPr>
          <a:xfrm>
            <a:off x="6286500" y="6235700"/>
            <a:ext cx="53975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100">
                <a:solidFill>
                  <a:srgbClr val="595959"/>
                </a:solidFill>
                <a:latin typeface="Arial"/>
                <a:cs typeface="Arial"/>
              </a:rPr>
              <a:t>TX/RX framing tại baud 115200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747AF10-3930-40C2-8DC8-E1DE9881E0C3}"/>
              </a:ext>
            </a:extLst>
          </p:cNvPr>
          <p:cNvSpPr txBox="1"/>
          <p:nvPr/>
        </p:nvSpPr>
        <p:spPr>
          <a:xfrm>
            <a:off x="508000" y="6477000"/>
            <a:ext cx="11176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000" i="1">
                <a:solidFill>
                  <a:srgbClr val="7F7F7F"/>
                </a:solidFill>
                <a:latin typeface="Arial"/>
                <a:cs typeface="Arial"/>
              </a:rPr>
              <a:t>Ghi chú: Mỗi waveform cần đánh dấu các marker timing quan trọng (setup/hold, latency cycles, handshake transition).</a:t>
            </a:r>
          </a:p>
        </p:txBody>
      </p:sp>
    </p:spTree>
    <p:extLst>
      <p:ext uri="{BB962C8B-B14F-4D97-AF65-F5344CB8AC3E}">
        <p14:creationId xmlns:p14="http://schemas.microsoft.com/office/powerpoint/2010/main" val="41803288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Content Placeholder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97998868"/>
              </p:ext>
            </p:extLst>
          </p:nvPr>
        </p:nvGraphicFramePr>
        <p:xfrm>
          <a:off x="609600" y="1233298"/>
          <a:ext cx="10882965" cy="412553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276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276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2765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3971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Task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Trạng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thái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Kết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quả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49296">
                <a:tc>
                  <a:txBody>
                    <a:bodyPr/>
                    <a:lstStyle/>
                    <a:p>
                      <a:pPr algn="l"/>
                      <a:r>
                        <a:t>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t>VLSU Design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t>Kiến trúc VLSU · interface dmem_sync · byte-enable · masked store</a:t>
                      </a:r>
                      <a:endParaRPr lang="en-US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4507">
                <a:tc>
                  <a:txBody>
                    <a:bodyPr/>
                    <a:lstStyle/>
                    <a:p>
                      <a:pPr algn="l"/>
                      <a:r>
                        <a:t>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t>Core Interface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t>Scalar ↔ VPU signals · stall protocol · RAW/WAW hazard</a:t>
                      </a:r>
                      <a:endParaRPr lang="en-US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83699684"/>
                  </a:ext>
                </a:extLst>
              </a:tr>
              <a:tr h="849296">
                <a:tc>
                  <a:txBody>
                    <a:bodyPr/>
                    <a:lstStyle/>
                    <a:p>
                      <a:pPr algn="l"/>
                      <a:r>
                        <a:t>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t>Memory Architecture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t>imem_sync · dmem_sync dual-port · Harvard layout · memory map 64KB</a:t>
                      </a:r>
                      <a:endParaRPr lang="en-US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49148397"/>
                  </a:ext>
                </a:extLst>
              </a:tr>
              <a:tr h="1290898">
                <a:tc>
                  <a:txBody>
                    <a:bodyPr/>
                    <a:lstStyle/>
                    <a:p>
                      <a:pPr algn="l"/>
                      <a:r>
                        <a:t>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t>UART Integration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t>TileLink-UL · register map 0xFF000000 · address decode · firmware</a:t>
                      </a:r>
                      <a:endParaRPr lang="en-US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09216134"/>
                  </a:ext>
                </a:extLst>
              </a:tr>
            </a:tbl>
          </a:graphicData>
        </a:graphic>
      </p:graphicFrame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42381" cy="1129542"/>
          </a:xfrm>
          <a:prstGeom prst="rect">
            <a:avLst/>
          </a:prstGeom>
        </p:spPr>
      </p:pic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1353370" y="-143737"/>
            <a:ext cx="10515600" cy="1325563"/>
          </a:xfrm>
        </p:spPr>
        <p:txBody>
          <a:bodyPr/>
          <a:lstStyle/>
          <a:p>
            <a:pPr marL="0" indent="0">
              <a:buNone/>
            </a:pPr>
            <a:r>
              <a:rPr lang="vi-VN" sz="3600" b="1" dirty="0"/>
              <a:t>Nội Dung Báo Cáo</a:t>
            </a:r>
          </a:p>
        </p:txBody>
      </p:sp>
      <p:cxnSp>
        <p:nvCxnSpPr>
          <p:cNvPr id="2" name="Straight Connector 1"/>
          <p:cNvCxnSpPr/>
          <p:nvPr/>
        </p:nvCxnSpPr>
        <p:spPr>
          <a:xfrm>
            <a:off x="1183907" y="991402"/>
            <a:ext cx="10308657" cy="0"/>
          </a:xfrm>
          <a:prstGeom prst="line">
            <a:avLst/>
          </a:prstGeom>
          <a:ln w="57150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20528" y="-70628"/>
            <a:ext cx="10515600" cy="1325563"/>
          </a:xfrm>
        </p:spPr>
        <p:txBody>
          <a:bodyPr/>
          <a:lstStyle/>
          <a:p>
            <a:pPr marL="0" indent="0">
              <a:buNone/>
            </a:pPr>
            <a:r>
              <a:rPr lang="vi-VN" sz="2800" b="1" dirty="0"/>
              <a:t>Vector Load/Store Unit — Kiến Trúc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325563"/>
            <a:ext cx="10515600" cy="2400000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vi-VN" sz="2200" b="1" dirty="0"/>
              <a:t>Chức năng</a:t>
            </a:r>
          </a:p>
          <a:p>
            <a:pPr marL="342900" indent="-342900">
              <a:buChar char="▶"/>
            </a:pPr>
            <a:r>
              <a:rPr lang="vi-VN" sz="1500" dirty="0"/>
              <a:t>Thực hiện VLE8/16/32.V (load) và VSE8/16/32.V (store) unit-stride.</a:t>
            </a:r>
          </a:p>
          <a:p>
            <a:pPr marL="342900" indent="-342900">
              <a:buChar char="▶"/>
            </a:pPr>
            <a:r>
              <a:rPr lang="vi-VN" sz="1500" dirty="0"/>
              <a:t>Truy cập DMEM độc lập — parallel với scalar port, không tranh chấp bus.</a:t>
            </a:r>
          </a:p>
          <a:p>
            <a:pPr marL="342900" indent="-342900">
              <a:buChar char="▶"/>
            </a:pPr>
            <a:r>
              <a:rPr lang="vi-VN" sz="1500" dirty="0"/>
              <a:t>Kết nối trực tiếp dmem_sync qua VLSU dedicated port (không qua TileLink).</a:t>
            </a:r>
          </a:p>
          <a:p>
            <a:pPr marL="0" indent="0">
              <a:buNone/>
            </a:pPr>
            <a:r>
              <a:rPr lang="vi-VN" sz="2200" b="1" dirty="0"/>
              <a:t>Byte-enable &amp; Masked Store</a:t>
            </a:r>
          </a:p>
          <a:p>
            <a:pPr marL="342900" indent="-342900">
              <a:buChar char="▶"/>
            </a:pPr>
            <a:r>
              <a:rPr lang="vi-VN" sz="1500" dirty="0"/>
              <a:t>SEW=e8 → 1 byte/word;  SEW=e16 → 2 bytes;  SEW=e32 → 4 bytes per cycle.</a:t>
            </a:r>
          </a:p>
          <a:p>
            <a:pPr marL="342900" indent="-342900">
              <a:buChar char="▶"/>
            </a:pPr>
            <a:r>
              <a:rPr lang="vi-VN" sz="1500" dirty="0"/>
              <a:t>vm=0 (masked): byte-enable = 0 cho element bị mask (vm_i + v0_flat_i ports).</a:t>
            </a:r>
          </a:p>
          <a:p>
            <a:pPr marL="342900" indent="-342900">
              <a:buChar char="▶"/>
            </a:pPr>
            <a:r>
              <a:rPr lang="vi-VN" sz="1500" dirty="0"/>
              <a:t>last_word_be: ngăn ghi tail bytes ngoài VL ở word cuối cùng.</a:t>
            </a:r>
          </a:p>
          <a:p>
            <a:pPr marL="342900" indent="-342900">
              <a:buChar char="▶"/>
            </a:pPr>
            <a:r>
              <a:rPr lang="vi-VN" sz="1500" dirty="0"/>
              <a:t>Handshake: vlsu_ready=1 ngay cho store;  =1 sau 1 cycle cho load.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910" y="0"/>
            <a:ext cx="1302618" cy="1184308"/>
          </a:xfrm>
          <a:prstGeom prst="rect">
            <a:avLst/>
          </a:prstGeom>
        </p:spPr>
      </p:pic>
      <p:cxnSp>
        <p:nvCxnSpPr>
          <p:cNvPr id="12" name="Straight Connector 11"/>
          <p:cNvCxnSpPr/>
          <p:nvPr/>
        </p:nvCxnSpPr>
        <p:spPr>
          <a:xfrm>
            <a:off x="1212783" y="1029903"/>
            <a:ext cx="10308657" cy="0"/>
          </a:xfrm>
          <a:prstGeom prst="line">
            <a:avLst/>
          </a:prstGeom>
          <a:ln w="57150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311C618D-0693-0726-55FA-E1B553B536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53333" y="4116654"/>
            <a:ext cx="3885331" cy="2741346"/>
          </a:xfrm>
          <a:prstGeom prst="rect">
            <a:avLst/>
          </a:prstGeom>
        </p:spPr>
      </p:pic>
      <p:sp>
        <p:nvSpPr>
          <p:cNvPr id="9901" name="DiagBox"/>
          <p:cNvSpPr txBox="1"/>
          <p:nvPr/>
        </p:nvSpPr>
        <p:spPr>
          <a:xfrm>
            <a:off x="838199" y="3825563"/>
            <a:ext cx="10515600" cy="2500000"/>
          </a:xfrm>
          <a:prstGeom prst="rect">
            <a:avLst/>
          </a:prstGeom>
          <a:noFill/>
          <a:ln w="19050" cmpd="sng">
            <a:solidFill>
              <a:srgbClr val="4172C4"/>
            </a:solidFill>
            <a:prstDash val="dash"/>
          </a:ln>
        </p:spPr>
        <p:txBody>
          <a:bodyPr anchor="ctr">
            <a:spAutoFit/>
          </a:bodyPr>
          <a:lstStyle/>
          <a:p>
            <a:pPr algn="ctr">
              <a:buNone/>
            </a:pPr>
            <a:r>
              <a:rPr lang="vi-VN" sz="1600" i="1" dirty="0">
                <a:solidFill>
                  <a:srgbClr val="4172C4"/>
                </a:solidFill>
              </a:rPr>
              <a:t>Chèn sơ đồ khối VLSU tại đây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20528" y="-70628"/>
            <a:ext cx="10515600" cy="1325563"/>
          </a:xfrm>
        </p:spPr>
        <p:txBody>
          <a:bodyPr/>
          <a:lstStyle/>
          <a:p>
            <a:pPr marL="0" indent="0">
              <a:buNone/>
            </a:pPr>
            <a:r>
              <a:rPr lang="vi-VN" sz="2800" b="1" dirty="0"/>
              <a:t>VLSU — Interface Signals &amp; Protocol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325563"/>
            <a:ext cx="10515600" cy="2400000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vi-VN" sz="2200" b="1" dirty="0"/>
              <a:t>Ports:  vproc_vec_lsu.sv  ↔  dmem_sync.sv</a:t>
            </a:r>
          </a:p>
          <a:p>
            <a:pPr marL="342900" indent="-342900">
              <a:buChar char="▶"/>
            </a:pPr>
            <a:r>
              <a:rPr lang="vi-VN" sz="1500" dirty="0"/>
              <a:t>vlsu_mem_req    — pulse 1 cycle kích hoạt giao dịch</a:t>
            </a:r>
          </a:p>
          <a:p>
            <a:pPr marL="342900" indent="-342900">
              <a:buChar char="▶"/>
            </a:pPr>
            <a:r>
              <a:rPr lang="vi-VN" sz="1500" dirty="0"/>
              <a:t>vlsu_mem_we     — 1 = store,  0 = load</a:t>
            </a:r>
          </a:p>
          <a:p>
            <a:pPr marL="342900" indent="-342900">
              <a:buChar char="▶"/>
            </a:pPr>
            <a:r>
              <a:rPr lang="vi-VN" sz="1500" dirty="0"/>
              <a:t>vlsu_mem_addr   — byte address [31:0]</a:t>
            </a:r>
          </a:p>
          <a:p>
            <a:pPr marL="342900" indent="-342900">
              <a:buChar char="▶"/>
            </a:pPr>
            <a:r>
              <a:rPr lang="vi-VN" sz="1500" dirty="0"/>
              <a:t>vlsu_mem_be     — byte enables [3:0]  (SEW + vm mask)</a:t>
            </a:r>
          </a:p>
          <a:p>
            <a:pPr marL="342900" indent="-342900">
              <a:buChar char="▶"/>
            </a:pPr>
            <a:r>
              <a:rPr lang="vi-VN" sz="1500" dirty="0"/>
              <a:t>vlsu_mem_wdata  — store data [31:0]</a:t>
            </a:r>
          </a:p>
          <a:p>
            <a:pPr marL="342900" indent="-342900">
              <a:buChar char="▶"/>
            </a:pPr>
            <a:r>
              <a:rPr lang="vi-VN" sz="1500" dirty="0"/>
              <a:t>vlsu_mem_rdata  — load data [31:0]  (valid 1 cycle sau req)</a:t>
            </a:r>
          </a:p>
          <a:p>
            <a:pPr marL="342900" indent="-342900">
              <a:buChar char="▶"/>
            </a:pPr>
            <a:r>
              <a:rPr lang="vi-VN" sz="1500" dirty="0"/>
              <a:t>vlsu_mem_ready  — write: 1 ngay;  read: 1 sau 1 cycle</a:t>
            </a:r>
          </a:p>
          <a:p>
            <a:pPr marL="0" indent="0">
              <a:buNone/>
            </a:pPr>
            <a:r>
              <a:rPr lang="vi-VN" sz="2200" b="1" dirty="0"/>
              <a:t>Conflict Resolution</a:t>
            </a:r>
          </a:p>
          <a:p>
            <a:pPr marL="342900" indent="-342900">
              <a:buChar char="▶"/>
            </a:pPr>
            <a:r>
              <a:rPr lang="vi-VN" sz="1500" dirty="0"/>
              <a:t>Scalar vs VLSU ghi cùng word: VLSU thắng (if-block VLSU sau scalar trong dmem_sync).</a:t>
            </a:r>
          </a:p>
          <a:p>
            <a:pPr marL="342900" indent="-342900">
              <a:buChar char="▶"/>
            </a:pPr>
            <a:r>
              <a:rPr lang="vi-VN" sz="1500" dirty="0"/>
              <a:t>vrf_busy_r[31:0] scoreboard ngăn RAW hazard VRF giữa vector instructions liên tiếp.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910" y="0"/>
            <a:ext cx="1302618" cy="1184308"/>
          </a:xfrm>
          <a:prstGeom prst="rect">
            <a:avLst/>
          </a:prstGeom>
        </p:spPr>
      </p:pic>
      <p:cxnSp>
        <p:nvCxnSpPr>
          <p:cNvPr id="12" name="Straight Connector 11"/>
          <p:cNvCxnSpPr/>
          <p:nvPr/>
        </p:nvCxnSpPr>
        <p:spPr>
          <a:xfrm>
            <a:off x="1212783" y="1029903"/>
            <a:ext cx="10308657" cy="0"/>
          </a:xfrm>
          <a:prstGeom prst="line">
            <a:avLst/>
          </a:prstGeom>
          <a:ln w="57150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311C618D-0693-0726-55FA-E1B553B536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53333" y="4116654"/>
            <a:ext cx="3885331" cy="274134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183907" y="327486"/>
            <a:ext cx="11715750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F497D"/>
                </a:solidFill>
              </a:rPr>
              <a:t>VLSU Design</a:t>
            </a:r>
          </a:p>
        </p:txBody>
      </p:sp>
      <p:sp>
        <p:nvSpPr>
          <p:cNvPr id="9901" name="DiagBox"/>
          <p:cNvSpPr txBox="1"/>
          <p:nvPr/>
        </p:nvSpPr>
        <p:spPr>
          <a:xfrm>
            <a:off x="838199" y="3825563"/>
            <a:ext cx="10515600" cy="2500000"/>
          </a:xfrm>
          <a:prstGeom prst="rect">
            <a:avLst/>
          </a:prstGeom>
          <a:noFill/>
          <a:ln w="19050" cmpd="sng">
            <a:solidFill>
              <a:srgbClr val="4172C4"/>
            </a:solidFill>
            <a:prstDash val="dash"/>
          </a:ln>
        </p:spPr>
        <p:txBody>
          <a:bodyPr anchor="ctr">
            <a:spAutoFit/>
          </a:bodyPr>
          <a:lstStyle/>
          <a:p>
            <a:pPr algn="ctr">
              <a:buNone/>
            </a:pPr>
            <a:r>
              <a:rPr lang="vi-VN" sz="1600" i="1" dirty="0">
                <a:solidFill>
                  <a:srgbClr val="4172C4"/>
                </a:solidFill>
              </a:rPr>
              <a:t>Chèn waveform handshake VLSU tại đây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20528" y="-70628"/>
            <a:ext cx="10515600" cy="1325563"/>
          </a:xfrm>
        </p:spPr>
        <p:txBody>
          <a:bodyPr/>
          <a:lstStyle/>
          <a:p>
            <a:pPr marL="0" indent="0">
              <a:buNone/>
            </a:pPr>
            <a:r>
              <a:rPr lang="vi-VN" sz="2800" b="1" dirty="0"/>
              <a:t>Scalar ↔ VPU Interface Signals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325563"/>
            <a:ext cx="10515600" cy="2400000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vi-VN" sz="2200" b="1" dirty="0"/>
              <a:t>Scalar  →  VPU   (dispatch từ EX stage)</a:t>
            </a:r>
          </a:p>
          <a:p>
            <a:pPr marL="342900" indent="-342900">
              <a:buChar char="▶"/>
            </a:pPr>
            <a:r>
              <a:rPr lang="vi-VN" sz="1500" dirty="0"/>
              <a:t>vpu_insn_vld_o   — valid khi vector instruction ở EX stage</a:t>
            </a:r>
          </a:p>
          <a:p>
            <a:pPr marL="342900" indent="-342900">
              <a:buChar char="▶"/>
            </a:pPr>
            <a:r>
              <a:rPr lang="vi-VN" sz="1500" dirty="0"/>
              <a:t>vpu_insn_o       — instruction word [31:0]</a:t>
            </a:r>
          </a:p>
          <a:p>
            <a:pPr marL="342900" indent="-342900">
              <a:buChar char="▶"/>
            </a:pPr>
            <a:r>
              <a:rPr lang="vi-VN" sz="1500" dirty="0"/>
              <a:t>vpu_rs1_data_o   — scalar rs1 sau EX/MEM/WB forwarding</a:t>
            </a:r>
          </a:p>
          <a:p>
            <a:pPr marL="342900" indent="-342900">
              <a:buChar char="▶"/>
            </a:pPr>
            <a:r>
              <a:rPr lang="vi-VN" sz="1500" dirty="0"/>
              <a:t>vpu_rs2_data_o   — scalar rs2 sau EX/MEM/WB forwarding</a:t>
            </a:r>
          </a:p>
          <a:p>
            <a:pPr marL="0" indent="0">
              <a:buNone/>
            </a:pPr>
            <a:r>
              <a:rPr lang="vi-VN" sz="2200" b="1" dirty="0"/>
              <a:t>VPU  →  Scalar   (feedback / stall / config)</a:t>
            </a:r>
          </a:p>
          <a:p>
            <a:pPr marL="342900" indent="-342900">
              <a:buChar char="▶"/>
            </a:pPr>
            <a:r>
              <a:rPr lang="vi-VN" sz="1500" dirty="0"/>
              <a:t>vpu_ready_i      — VPU sẵn sàng nhận lệnh mới (FIFO có chỗ)</a:t>
            </a:r>
          </a:p>
          <a:p>
            <a:pPr marL="342900" indent="-342900">
              <a:buChar char="▶"/>
            </a:pPr>
            <a:r>
              <a:rPr lang="vi-VN" sz="1500" dirty="0"/>
              <a:t>vpu_cfg_done_i   — vsetvl*/vsetvli đã commit, vl mới hợp lệ</a:t>
            </a:r>
          </a:p>
          <a:p>
            <a:pPr marL="342900" indent="-342900">
              <a:buChar char="▶"/>
            </a:pPr>
            <a:r>
              <a:rPr lang="vi-VN" sz="1500" dirty="0"/>
              <a:t>vpu_vl_remain_i  — giá trị vl mới [31:0] → scalar ghi vào rd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910" y="0"/>
            <a:ext cx="1302618" cy="1184308"/>
          </a:xfrm>
          <a:prstGeom prst="rect">
            <a:avLst/>
          </a:prstGeom>
        </p:spPr>
      </p:pic>
      <p:cxnSp>
        <p:nvCxnSpPr>
          <p:cNvPr id="12" name="Straight Connector 11"/>
          <p:cNvCxnSpPr/>
          <p:nvPr/>
        </p:nvCxnSpPr>
        <p:spPr>
          <a:xfrm>
            <a:off x="1212783" y="1029903"/>
            <a:ext cx="10308657" cy="0"/>
          </a:xfrm>
          <a:prstGeom prst="line">
            <a:avLst/>
          </a:prstGeom>
          <a:ln w="57150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311C618D-0693-0726-55FA-E1B553B536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53333" y="4116654"/>
            <a:ext cx="3885331" cy="274134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183907" y="327486"/>
            <a:ext cx="11715750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F497D"/>
                </a:solidFill>
              </a:rPr>
              <a:t>Core Interface</a:t>
            </a:r>
          </a:p>
        </p:txBody>
      </p:sp>
      <p:sp>
        <p:nvSpPr>
          <p:cNvPr id="9901" name="DiagBox"/>
          <p:cNvSpPr txBox="1"/>
          <p:nvPr/>
        </p:nvSpPr>
        <p:spPr>
          <a:xfrm>
            <a:off x="838199" y="3825563"/>
            <a:ext cx="10515600" cy="2500000"/>
          </a:xfrm>
          <a:prstGeom prst="rect">
            <a:avLst/>
          </a:prstGeom>
          <a:noFill/>
          <a:ln w="19050" cmpd="sng">
            <a:solidFill>
              <a:srgbClr val="4172C4"/>
            </a:solidFill>
            <a:prstDash val="dash"/>
          </a:ln>
        </p:spPr>
        <p:txBody>
          <a:bodyPr anchor="ctr">
            <a:spAutoFit/>
          </a:bodyPr>
          <a:lstStyle/>
          <a:p>
            <a:pPr algn="ctr">
              <a:buNone/>
            </a:pPr>
            <a:r>
              <a:rPr lang="vi-VN" sz="1600" i="1" dirty="0">
                <a:solidFill>
                  <a:srgbClr val="4172C4"/>
                </a:solidFill>
              </a:rPr>
              <a:t>Chèn sơ đồ interface Scalar-VPU tại đây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20528" y="-70628"/>
            <a:ext cx="10515600" cy="1325563"/>
          </a:xfrm>
        </p:spPr>
        <p:txBody>
          <a:bodyPr/>
          <a:lstStyle/>
          <a:p>
            <a:pPr marL="0" indent="0">
              <a:buNone/>
            </a:pPr>
            <a:r>
              <a:rPr lang="vi-VN" sz="2800" b="1" dirty="0"/>
              <a:t>Stall, Dispatch &amp; Hazard Handling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325563"/>
            <a:ext cx="10515600" cy="2400000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vi-VN" sz="2200" b="1" dirty="0"/>
              <a:t>Pipeline Stall   (pipelined_vpu.sv)</a:t>
            </a:r>
          </a:p>
          <a:p>
            <a:pPr marL="342900" indent="-342900">
              <a:buChar char="▶"/>
            </a:pPr>
            <a:r>
              <a:rPr lang="vi-VN" sz="1500" dirty="0"/>
              <a:t>vpu_stall = is_vector_exe &amp;&amp; !vpu_ready_i</a:t>
            </a:r>
          </a:p>
          <a:p>
            <a:pPr marL="342900" indent="-342900">
              <a:buChar char="▶"/>
            </a:pPr>
            <a:r>
              <a:rPr lang="vi-VN" sz="1500" dirty="0"/>
              <a:t>Khi stall: enable = !vpu_stall cho tất cả pipeline registers (giữ nguyên state).</a:t>
            </a:r>
          </a:p>
          <a:p>
            <a:pPr marL="342900" indent="-342900">
              <a:buChar char="▶"/>
            </a:pPr>
            <a:r>
              <a:rPr lang="vi-VN" sz="1500" dirty="0"/>
              <a:t>vsetvl* writeback: vpu_cfg_done → rf_wren=1, ghi vpu_vl_remain vào rd_addr.</a:t>
            </a:r>
          </a:p>
          <a:p>
            <a:pPr marL="0" indent="0">
              <a:buNone/>
            </a:pPr>
            <a:r>
              <a:rPr lang="vi-VN" sz="2200" b="1" dirty="0"/>
              <a:t>Hazard Control   (vproc_system_wrapper.sv)</a:t>
            </a:r>
          </a:p>
          <a:p>
            <a:pPr marL="342900" indent="-342900">
              <a:buChar char="▶"/>
            </a:pPr>
            <a:r>
              <a:rPr lang="vi-VN" sz="1500" dirty="0"/>
              <a:t>RAW:  vrf_busy_r[31:0] — set khi dispatch, clear khi WB commit.</a:t>
            </a:r>
          </a:p>
          <a:p>
            <a:pPr marL="342900" indent="-342900">
              <a:buChar char="▶"/>
            </a:pPr>
            <a:r>
              <a:rPr lang="vi-VN" sz="1500" dirty="0"/>
              <a:t>WAW (load):  load_waw_stall — block store nếu VLSU load chưa ghi VRF.</a:t>
            </a:r>
          </a:p>
          <a:p>
            <a:pPr marL="342900" indent="-342900">
              <a:buChar char="▶"/>
            </a:pPr>
            <a:r>
              <a:rPr lang="vi-VN" sz="1500" dirty="0"/>
              <a:t>Duplicate-push fix: push_valid gated by vpu_ready_i — tránh push FIFO 2 lần.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910" y="0"/>
            <a:ext cx="1302618" cy="1184308"/>
          </a:xfrm>
          <a:prstGeom prst="rect">
            <a:avLst/>
          </a:prstGeom>
        </p:spPr>
      </p:pic>
      <p:cxnSp>
        <p:nvCxnSpPr>
          <p:cNvPr id="12" name="Straight Connector 11"/>
          <p:cNvCxnSpPr/>
          <p:nvPr/>
        </p:nvCxnSpPr>
        <p:spPr>
          <a:xfrm>
            <a:off x="1212783" y="1029903"/>
            <a:ext cx="10308657" cy="0"/>
          </a:xfrm>
          <a:prstGeom prst="line">
            <a:avLst/>
          </a:prstGeom>
          <a:ln w="57150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311C618D-0693-0726-55FA-E1B553B536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53333" y="4116654"/>
            <a:ext cx="3885331" cy="274134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183907" y="327486"/>
            <a:ext cx="11715750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F497D"/>
                </a:solidFill>
              </a:rPr>
              <a:t>Core Interface</a:t>
            </a:r>
          </a:p>
        </p:txBody>
      </p:sp>
      <p:sp>
        <p:nvSpPr>
          <p:cNvPr id="9901" name="DiagBox"/>
          <p:cNvSpPr txBox="1"/>
          <p:nvPr/>
        </p:nvSpPr>
        <p:spPr>
          <a:xfrm>
            <a:off x="838199" y="3825563"/>
            <a:ext cx="10515600" cy="2500000"/>
          </a:xfrm>
          <a:prstGeom prst="rect">
            <a:avLst/>
          </a:prstGeom>
          <a:noFill/>
          <a:ln w="19050" cmpd="sng">
            <a:solidFill>
              <a:srgbClr val="4172C4"/>
            </a:solidFill>
            <a:prstDash val="dash"/>
          </a:ln>
        </p:spPr>
        <p:txBody>
          <a:bodyPr anchor="ctr">
            <a:spAutoFit/>
          </a:bodyPr>
          <a:lstStyle/>
          <a:p>
            <a:pPr algn="ctr">
              <a:buNone/>
            </a:pPr>
            <a:r>
              <a:rPr lang="vi-VN" sz="1600" i="1" dirty="0">
                <a:solidFill>
                  <a:srgbClr val="4172C4"/>
                </a:solidFill>
              </a:rPr>
              <a:t>Chèn timing diagram pipeline stall tại đây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20528" y="-70628"/>
            <a:ext cx="10515600" cy="1325563"/>
          </a:xfrm>
        </p:spPr>
        <p:txBody>
          <a:bodyPr/>
          <a:lstStyle/>
          <a:p>
            <a:pPr marL="0" indent="0">
              <a:buNone/>
            </a:pPr>
            <a:r>
              <a:rPr lang="vi-VN" sz="2800" b="1" dirty="0"/>
              <a:t>Memory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325563"/>
            <a:ext cx="10515600" cy="2400000"/>
          </a:xfrm>
        </p:spPr>
        <p:txBody>
          <a:bodyPr>
            <a:normAutofit fontScale="40000" lnSpcReduction="20000"/>
          </a:bodyPr>
          <a:lstStyle/>
          <a:p>
            <a:pPr marL="0" indent="0">
              <a:buNone/>
            </a:pPr>
            <a:r>
              <a:rPr lang="vi-VN" sz="2200" b="1" dirty="0"/>
              <a:t>Harvard Architecture</a:t>
            </a:r>
          </a:p>
          <a:p>
            <a:pPr marL="342900" indent="-342900">
              <a:buChar char="▶"/>
            </a:pPr>
            <a:r>
              <a:rPr lang="vi-VN" sz="1500" dirty="0"/>
              <a:t>IMEM (imem_sync.sv): 8KB, sync 1-cycle read, $readmemh("imem.hex") lúc elaboration.</a:t>
            </a:r>
          </a:p>
          <a:p>
            <a:pPr marL="342900" indent="-342900">
              <a:buChar char="▶"/>
            </a:pPr>
            <a:r>
              <a:rPr lang="vi-VN" sz="1500" dirty="0"/>
              <a:t>DMEM (dmem_sync.sv): 64KB = 16384 × 32-bit words, sync reset active-low.</a:t>
            </a:r>
          </a:p>
          <a:p>
            <a:pPr marL="0" indent="0">
              <a:buNone/>
            </a:pPr>
            <a:r>
              <a:rPr lang="vi-VN" sz="2200" b="1" dirty="0"/>
              <a:t>dmem_sync — Dual-Port</a:t>
            </a:r>
          </a:p>
          <a:p>
            <a:pPr marL="342900" indent="-342900">
              <a:buChar char="▶"/>
            </a:pPr>
            <a:r>
              <a:rPr lang="vi-VN" sz="1500" dirty="0"/>
              <a:t>Scalar port: SB byte-enable từ addr[1:0]+func3; SW/SH/SB phân lane; 1-cycle read.</a:t>
            </a:r>
          </a:p>
          <a:p>
            <a:pPr marL="342900" indent="-342900">
              <a:buChar char="▶"/>
            </a:pPr>
            <a:r>
              <a:rPr lang="vi-VN" sz="1500" dirty="0"/>
              <a:t>VLSU port:  vlsu_req/we/addr/be/wdata/rdata/ready; write ngay; read +1 cycle.</a:t>
            </a:r>
          </a:p>
          <a:p>
            <a:pPr marL="342900" indent="-342900">
              <a:buChar char="▶"/>
            </a:pPr>
            <a:r>
              <a:rPr lang="vi-VN" sz="1500" dirty="0"/>
              <a:t>Conflict: VLSU thắng khi cả 2 ghi cùng word (if-guard trong always_ff).</a:t>
            </a:r>
          </a:p>
          <a:p>
            <a:pPr marL="0" indent="0">
              <a:buNone/>
            </a:pPr>
            <a:r>
              <a:rPr lang="vi-VN" sz="2200" b="1" dirty="0"/>
              <a:t>Memory Map — Lena 128×128 Benchmark</a:t>
            </a:r>
          </a:p>
          <a:p>
            <a:pPr marL="342900" indent="-342900">
              <a:buChar char="▶"/>
            </a:pPr>
            <a:r>
              <a:rPr lang="vi-VN" sz="1500" dirty="0"/>
              <a:t>0x0000–0x3FFF   R channel  (16384 bytes)  ← nhận qua UART</a:t>
            </a:r>
          </a:p>
          <a:p>
            <a:pPr marL="342900" indent="-342900">
              <a:buChar char="▶"/>
            </a:pPr>
            <a:r>
              <a:rPr lang="vi-VN" sz="1500" dirty="0"/>
              <a:t>0x4000–0x7FFF   G channel  (16384 bytes)  ← nhận qua UART</a:t>
            </a:r>
          </a:p>
          <a:p>
            <a:pPr marL="342900" indent="-342900">
              <a:buChar char="▶"/>
            </a:pPr>
            <a:r>
              <a:rPr lang="vi-VN" sz="1500" dirty="0"/>
              <a:t>0x8000–0xBFFF   B channel  (16384 bytes)  ← nhận qua UART</a:t>
            </a:r>
          </a:p>
          <a:p>
            <a:pPr marL="342900" indent="-342900">
              <a:buChar char="▶"/>
            </a:pPr>
            <a:r>
              <a:rPr lang="vi-VN" sz="1500" dirty="0"/>
              <a:t>0xC000–0xFFFF   Y output   (16384 bytes)  ← ghi bởi VPU VSE8.V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910" y="0"/>
            <a:ext cx="1302618" cy="1184308"/>
          </a:xfrm>
          <a:prstGeom prst="rect">
            <a:avLst/>
          </a:prstGeom>
        </p:spPr>
      </p:pic>
      <p:cxnSp>
        <p:nvCxnSpPr>
          <p:cNvPr id="12" name="Straight Connector 11"/>
          <p:cNvCxnSpPr/>
          <p:nvPr/>
        </p:nvCxnSpPr>
        <p:spPr>
          <a:xfrm>
            <a:off x="1212783" y="1029903"/>
            <a:ext cx="10308657" cy="0"/>
          </a:xfrm>
          <a:prstGeom prst="line">
            <a:avLst/>
          </a:prstGeom>
          <a:ln w="57150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311C618D-0693-0726-55FA-E1B553B536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53333" y="4116654"/>
            <a:ext cx="3885331" cy="274134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183907" y="327486"/>
            <a:ext cx="11715750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F497D"/>
                </a:solidFill>
              </a:rPr>
              <a:t>Memory</a:t>
            </a:r>
          </a:p>
        </p:txBody>
      </p:sp>
      <p:sp>
        <p:nvSpPr>
          <p:cNvPr id="9901" name="DiagBox"/>
          <p:cNvSpPr txBox="1"/>
          <p:nvPr/>
        </p:nvSpPr>
        <p:spPr>
          <a:xfrm>
            <a:off x="838199" y="3825563"/>
            <a:ext cx="10515600" cy="2500000"/>
          </a:xfrm>
          <a:prstGeom prst="rect">
            <a:avLst/>
          </a:prstGeom>
          <a:noFill/>
          <a:ln w="19050" cmpd="sng">
            <a:solidFill>
              <a:srgbClr val="4172C4"/>
            </a:solidFill>
            <a:prstDash val="dash"/>
          </a:ln>
        </p:spPr>
        <p:txBody>
          <a:bodyPr anchor="ctr">
            <a:spAutoFit/>
          </a:bodyPr>
          <a:lstStyle/>
          <a:p>
            <a:pPr algn="ctr">
              <a:buNone/>
            </a:pPr>
            <a:r>
              <a:rPr lang="vi-VN" sz="1600" i="1" dirty="0">
                <a:solidFill>
                  <a:srgbClr val="4172C4"/>
                </a:solidFill>
              </a:rPr>
              <a:t>Chèn sơ đồ memory hierarchy tại đây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20528" y="-70628"/>
            <a:ext cx="10515600" cy="1325563"/>
          </a:xfrm>
        </p:spPr>
        <p:txBody>
          <a:bodyPr/>
          <a:lstStyle/>
          <a:p>
            <a:pPr marL="0" indent="0">
              <a:buNone/>
            </a:pPr>
            <a:r>
              <a:rPr lang="vi-VN" sz="2800" b="1" dirty="0"/>
              <a:t>UART via TileLink-UL Bus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325563"/>
            <a:ext cx="10515600" cy="2400000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vi-VN" sz="2200" b="1" dirty="0"/>
              <a:t>TileLink-UL Protocol   (rtl_trial/bus/tl_pkg.sv)</a:t>
            </a:r>
          </a:p>
          <a:p>
            <a:pPr marL="342900" indent="-342900">
              <a:buChar char="▶"/>
            </a:pPr>
            <a:r>
              <a:rPr lang="vi-VN" sz="1500" dirty="0"/>
              <a:t>Channel A (tl_a_t):  opcode | address[31:0] | mask[3:0] | data[31:0] | valid</a:t>
            </a:r>
          </a:p>
          <a:p>
            <a:pPr marL="342900" indent="-342900">
              <a:buChar char="▶"/>
            </a:pPr>
            <a:r>
              <a:rPr lang="vi-VN" sz="1500" dirty="0"/>
              <a:t>Channel D (tl_d_t):  opcode | data[31:0] | valid   (slave → master)</a:t>
            </a:r>
          </a:p>
          <a:p>
            <a:pPr marL="342900" indent="-342900">
              <a:buChar char="▶"/>
            </a:pPr>
            <a:r>
              <a:rPr lang="vi-VN" sz="1500" dirty="0"/>
              <a:t>GET (read), PUT_PARTIAL (write); D: ACCESS_ACK_DATA / ACCESS_ACK.</a:t>
            </a:r>
          </a:p>
          <a:p>
            <a:pPr marL="0" indent="0">
              <a:buNone/>
            </a:pPr>
            <a:r>
              <a:rPr lang="vi-VN" sz="2200" b="1" dirty="0"/>
              <a:t>UART Register Map   (uart.sv  @  0xFF000000)</a:t>
            </a:r>
          </a:p>
          <a:p>
            <a:pPr marL="342900" indent="-342900">
              <a:buChar char="▶"/>
            </a:pPr>
            <a:r>
              <a:rPr lang="vi-VN" sz="1500" dirty="0"/>
              <a:t>+0x00  CTRL   [0]=TX_EN,  [1]=RX_EN              default 1/1 tại reset</a:t>
            </a:r>
          </a:p>
          <a:p>
            <a:pPr marL="342900" indent="-342900">
              <a:buChar char="▶"/>
            </a:pPr>
            <a:r>
              <a:rPr lang="vi-VN" sz="1500" dirty="0"/>
              <a:t>+0x04  STAT   [0]=TX_BUSY, [1]=RX_VALID          RX FIFO non-empty flag</a:t>
            </a:r>
          </a:p>
          <a:p>
            <a:pPr marL="342900" indent="-342900">
              <a:buChar char="▶"/>
            </a:pPr>
            <a:r>
              <a:rPr lang="vi-VN" sz="1500" dirty="0"/>
              <a:t>+0x08  TXDAT  write [7:0] → push TX FIFO         triggers TX engine</a:t>
            </a:r>
          </a:p>
          <a:p>
            <a:pPr marL="342900" indent="-342900">
              <a:buChar char="▶"/>
            </a:pPr>
            <a:r>
              <a:rPr lang="vi-VN" sz="1500" dirty="0"/>
              <a:t>+0x0C  RXDAT  read  [7:0] → dequeue RX FIFO      side-effect on TL GET</a:t>
            </a:r>
          </a:p>
          <a:p>
            <a:pPr marL="342900" indent="-342900">
              <a:buChar char="▶"/>
            </a:pPr>
            <a:r>
              <a:rPr lang="vi-VN" sz="1500" dirty="0"/>
              <a:t>+0x10  BAUD   divisor = CLK_FREQ / (16 × BAUD_RATE) − 1</a:t>
            </a:r>
          </a:p>
          <a:p>
            <a:pPr marL="342900" indent="-342900">
              <a:buChar char="▶"/>
            </a:pPr>
            <a:r>
              <a:rPr lang="vi-VN" sz="1500" dirty="0"/>
              <a:t>8-entry FIFO mỗi chiều; 16× oversampling; frame 8N1.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910" y="0"/>
            <a:ext cx="1302618" cy="1184308"/>
          </a:xfrm>
          <a:prstGeom prst="rect">
            <a:avLst/>
          </a:prstGeom>
        </p:spPr>
      </p:pic>
      <p:cxnSp>
        <p:nvCxnSpPr>
          <p:cNvPr id="12" name="Straight Connector 11"/>
          <p:cNvCxnSpPr/>
          <p:nvPr/>
        </p:nvCxnSpPr>
        <p:spPr>
          <a:xfrm>
            <a:off x="1212783" y="1029903"/>
            <a:ext cx="10308657" cy="0"/>
          </a:xfrm>
          <a:prstGeom prst="line">
            <a:avLst/>
          </a:prstGeom>
          <a:ln w="57150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311C618D-0693-0726-55FA-E1B553B536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53333" y="4116654"/>
            <a:ext cx="3885331" cy="274134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183907" y="327486"/>
            <a:ext cx="11715750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F497D"/>
                </a:solidFill>
              </a:rPr>
              <a:t>UART Integration</a:t>
            </a:r>
          </a:p>
        </p:txBody>
      </p:sp>
      <p:sp>
        <p:nvSpPr>
          <p:cNvPr id="9901" name="DiagBox"/>
          <p:cNvSpPr txBox="1"/>
          <p:nvPr/>
        </p:nvSpPr>
        <p:spPr>
          <a:xfrm>
            <a:off x="838199" y="3825563"/>
            <a:ext cx="10515600" cy="2500000"/>
          </a:xfrm>
          <a:prstGeom prst="rect">
            <a:avLst/>
          </a:prstGeom>
          <a:noFill/>
          <a:ln w="19050" cmpd="sng">
            <a:solidFill>
              <a:srgbClr val="4172C4"/>
            </a:solidFill>
            <a:prstDash val="dash"/>
          </a:ln>
        </p:spPr>
        <p:txBody>
          <a:bodyPr anchor="ctr">
            <a:spAutoFit/>
          </a:bodyPr>
          <a:lstStyle/>
          <a:p>
            <a:pPr algn="ctr">
              <a:buNone/>
            </a:pPr>
            <a:r>
              <a:rPr lang="vi-VN" sz="1600" i="1" dirty="0">
                <a:solidFill>
                  <a:srgbClr val="4172C4"/>
                </a:solidFill>
              </a:rPr>
              <a:t>Chèn sơ đồ TileLink A/D channel tại đây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20528" y="-70628"/>
            <a:ext cx="10515600" cy="1325563"/>
          </a:xfrm>
        </p:spPr>
        <p:txBody>
          <a:bodyPr/>
          <a:lstStyle/>
          <a:p>
            <a:pPr marL="0" indent="0">
              <a:buNone/>
            </a:pPr>
            <a:r>
              <a:rPr lang="vi-VN" sz="2800" b="1" dirty="0"/>
              <a:t>riscv_vpu_top_v4 — System Integration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325563"/>
            <a:ext cx="10515600" cy="2400000"/>
          </a:xfrm>
        </p:spPr>
        <p:txBody>
          <a:bodyPr>
            <a:normAutofit fontScale="40000" lnSpcReduction="20000"/>
          </a:bodyPr>
          <a:lstStyle/>
          <a:p>
            <a:pPr marL="0" indent="0">
              <a:buNone/>
            </a:pPr>
            <a:r>
              <a:rPr lang="vi-VN" sz="2200" b="1" dirty="0"/>
              <a:t>Address Decode  (inline top-level, không crossbar)</a:t>
            </a:r>
          </a:p>
          <a:p>
            <a:pPr marL="342900" indent="-342900">
              <a:buChar char="▶"/>
            </a:pPr>
            <a:r>
              <a:rPr lang="vi-VN" sz="1500" dirty="0"/>
              <a:t>uart_sel = (s_dmem_addr[31:8] == 24'hFF0000)</a:t>
            </a:r>
          </a:p>
          <a:p>
            <a:pPr marL="342900" indent="-342900">
              <a:buChar char="▶"/>
            </a:pPr>
            <a:r>
              <a:rPr lang="vi-VN" sz="1500" dirty="0"/>
              <a:t>dmem_we = s_dmem_we &amp; ~uart_sel   →  UART store không vào DMEM</a:t>
            </a:r>
          </a:p>
          <a:p>
            <a:pPr marL="342900" indent="-342900">
              <a:buChar char="▶"/>
            </a:pPr>
            <a:r>
              <a:rPr lang="vi-VN" sz="1500" dirty="0"/>
              <a:t>dmem_re = s_dmem_re &amp; ~uart_sel   →  UART load không kích DMEM read</a:t>
            </a:r>
          </a:p>
          <a:p>
            <a:pPr marL="0" indent="0">
              <a:buNone/>
            </a:pPr>
            <a:r>
              <a:rPr lang="vi-VN" sz="2200" b="1" dirty="0"/>
              <a:t>1-Cycle Read Latency Alignment</a:t>
            </a:r>
          </a:p>
          <a:p>
            <a:pPr marL="342900" indent="-342900">
              <a:buChar char="▶"/>
            </a:pPr>
            <a:r>
              <a:rPr lang="vi-VN" sz="1500" dirty="0"/>
              <a:t>UART TL-D trả lời combinatorial; DMEM có 1-cycle registered output.</a:t>
            </a:r>
          </a:p>
          <a:p>
            <a:pPr marL="342900" indent="-342900">
              <a:buChar char="▶"/>
            </a:pPr>
            <a:r>
              <a:rPr lang="vi-VN" sz="1500" dirty="0"/>
              <a:t>uart_rd_pending_r &amp; uart_rdata_r registered 1 cycle để match latency.</a:t>
            </a:r>
          </a:p>
          <a:p>
            <a:pPr marL="342900" indent="-342900">
              <a:buChar char="▶"/>
            </a:pPr>
            <a:r>
              <a:rPr lang="vi-VN" sz="1500" dirty="0"/>
              <a:t>s_dmem_rdata = uart_rd_pending_r ? uart_rdata_r : dmem_rdata</a:t>
            </a:r>
          </a:p>
          <a:p>
            <a:pPr marL="0" indent="0">
              <a:buNone/>
            </a:pPr>
            <a:r>
              <a:rPr lang="vi-VN" sz="2200" b="1" dirty="0"/>
              <a:t>Firmware — sw/uart_lena.S  (53 instructions)</a:t>
            </a:r>
          </a:p>
          <a:p>
            <a:pPr marL="342900" indent="-342900">
              <a:buChar char="▶"/>
            </a:pPr>
            <a:r>
              <a:rPr lang="vi-VN" sz="1500" dirty="0"/>
              <a:t>Receive 3 × 16384 bytes R/G/B qua UART polling STAT[1]=RX_VALID.</a:t>
            </a:r>
          </a:p>
          <a:p>
            <a:pPr marL="342900" indent="-342900">
              <a:buChar char="▶"/>
            </a:pPr>
            <a:r>
              <a:rPr lang="vi-VN" sz="1500" dirty="0"/>
              <a:t>1024 iter VPU: vle8.v×3 + vmulhu.vx×3 + vadd.vv×2 + vse8.v (16 px/iter).</a:t>
            </a:r>
          </a:p>
          <a:p>
            <a:pPr marL="342900" indent="-342900">
              <a:buChar char="▶"/>
            </a:pPr>
            <a:r>
              <a:rPr lang="vi-VN" sz="1500" dirty="0"/>
              <a:t>Gửi ACK 0xAA;  total ~3.93 M cycles UART + VPU processing.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910" y="0"/>
            <a:ext cx="1302618" cy="1184308"/>
          </a:xfrm>
          <a:prstGeom prst="rect">
            <a:avLst/>
          </a:prstGeom>
        </p:spPr>
      </p:pic>
      <p:cxnSp>
        <p:nvCxnSpPr>
          <p:cNvPr id="12" name="Straight Connector 11"/>
          <p:cNvCxnSpPr/>
          <p:nvPr/>
        </p:nvCxnSpPr>
        <p:spPr>
          <a:xfrm>
            <a:off x="1212783" y="1029903"/>
            <a:ext cx="10308657" cy="0"/>
          </a:xfrm>
          <a:prstGeom prst="line">
            <a:avLst/>
          </a:prstGeom>
          <a:ln w="57150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311C618D-0693-0726-55FA-E1B553B536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53333" y="4116654"/>
            <a:ext cx="3885331" cy="274134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183907" y="327486"/>
            <a:ext cx="11715750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F497D"/>
                </a:solidFill>
              </a:rPr>
              <a:t>UART Integration</a:t>
            </a:r>
          </a:p>
        </p:txBody>
      </p:sp>
      <p:sp>
        <p:nvSpPr>
          <p:cNvPr id="9901" name="DiagBox"/>
          <p:cNvSpPr txBox="1"/>
          <p:nvPr/>
        </p:nvSpPr>
        <p:spPr>
          <a:xfrm>
            <a:off x="838199" y="3825563"/>
            <a:ext cx="10515600" cy="2500000"/>
          </a:xfrm>
          <a:prstGeom prst="rect">
            <a:avLst/>
          </a:prstGeom>
          <a:noFill/>
          <a:ln w="19050" cmpd="sng">
            <a:solidFill>
              <a:srgbClr val="4172C4"/>
            </a:solidFill>
            <a:prstDash val="dash"/>
          </a:ln>
        </p:spPr>
        <p:txBody>
          <a:bodyPr anchor="ctr">
            <a:spAutoFit/>
          </a:bodyPr>
          <a:lstStyle/>
          <a:p>
            <a:pPr algn="ctr">
              <a:buNone/>
            </a:pPr>
            <a:r>
              <a:rPr lang="vi-VN" sz="1600" i="1" dirty="0">
                <a:solidFill>
                  <a:srgbClr val="4172C4"/>
                </a:solidFill>
              </a:rPr>
              <a:t>Chèn block diagram riscv_vpu_top_v4 tại đây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20528" y="-70628"/>
            <a:ext cx="10515600" cy="1325563"/>
          </a:xfrm>
        </p:spPr>
        <p:txBody>
          <a:bodyPr/>
          <a:lstStyle/>
          <a:p>
            <a:pPr marL="0" indent="0">
              <a:buNone/>
            </a:pPr>
            <a:r>
              <a:rPr lang="vi-VN" sz="2800" b="1" dirty="0"/>
              <a:t>Simulation &amp; Kết Quả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325563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vi-VN" sz="2200" b="1" dirty="0"/>
              <a:t>Tests đã PASS — VPU Core</a:t>
            </a:r>
          </a:p>
          <a:p>
            <a:pPr marL="342900" indent="-342900">
              <a:buChar char="▶"/>
            </a:pPr>
            <a:r>
              <a:rPr lang="vi-VN" sz="1500" dirty="0"/>
              <a:t>172/172  tb_vproc_all_instr: ALU VV/VX/VI, MUL, SHIFT, COMPARE, MINMAX, WIDENING, REDUCTION.</a:t>
            </a:r>
          </a:p>
          <a:p>
            <a:pPr marL="342900" indent="-342900">
              <a:buChar char="▶"/>
            </a:pPr>
            <a:r>
              <a:rPr lang="vi-VN" sz="1500" dirty="0"/>
              <a:t>75/75    tb_vproc_vlsu: e8/e16/e32, VL ngẫu nhiên, masked store.</a:t>
            </a:r>
          </a:p>
          <a:p>
            <a:pPr marL="0" indent="0">
              <a:buNone/>
            </a:pPr>
            <a:r>
              <a:rPr lang="vi-VN" sz="2200" b="1" dirty="0"/>
              <a:t>Tests đã PASS — Integration</a:t>
            </a:r>
          </a:p>
          <a:p>
            <a:pPr marL="342900" indent="-342900">
              <a:buChar char="▶"/>
            </a:pPr>
            <a:r>
              <a:rPr lang="vi-VN" sz="1500" dirty="0"/>
              <a:t>PASS    tb_lena_gray: 128×128 BT.601, 16384/16384 pixel đúng, max_err=0, 34828 cycles.</a:t>
            </a:r>
          </a:p>
          <a:p>
            <a:pPr marL="342900" indent="-342900">
              <a:buChar char="▶"/>
            </a:pPr>
            <a:r>
              <a:rPr lang="vi-VN" sz="1500" dirty="0"/>
              <a:t>PASS    tb_riscv_vpu_top: bench_imgproc, bench_matmul 4×4 int, bench_axpy N=16.</a:t>
            </a:r>
          </a:p>
          <a:p>
            <a:pPr marL="0" indent="0">
              <a:buNone/>
            </a:pPr>
            <a:r>
              <a:rPr lang="vi-VN" sz="2200" b="1" dirty="0"/>
              <a:t>Pending — UART Integration</a:t>
            </a:r>
          </a:p>
          <a:p>
            <a:pPr marL="342900" indent="-342900">
              <a:buChar char="▶"/>
            </a:pPr>
            <a:r>
              <a:rPr lang="vi-VN" sz="1500" dirty="0"/>
              <a:t>tb_uart_lena:     smoke test 16 pixel  R=G=B=128 → expected Y=127.</a:t>
            </a:r>
          </a:p>
          <a:p>
            <a:pPr marL="342900" indent="-342900">
              <a:buChar char="▶"/>
            </a:pPr>
            <a:r>
              <a:rPr lang="vi-VN" sz="1500" dirty="0"/>
              <a:t>tb_uart_lena_img: full 128×128 Lena qua UART → DMEM dump → reconstruct PNG.</a:t>
            </a:r>
          </a:p>
          <a:p>
            <a:pPr marL="342900" indent="-342900">
              <a:buChar char="▶"/>
            </a:pPr>
            <a:r>
              <a:rPr lang="vi-VN" sz="1400" dirty="0"/>
              <a:t>Chạy: vsim -c -do run_uart_sim.do  rồi  run_uart_lena_img_sim.do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910" y="0"/>
            <a:ext cx="1302618" cy="1184308"/>
          </a:xfrm>
          <a:prstGeom prst="rect">
            <a:avLst/>
          </a:prstGeom>
        </p:spPr>
      </p:pic>
      <p:cxnSp>
        <p:nvCxnSpPr>
          <p:cNvPr id="12" name="Straight Connector 11"/>
          <p:cNvCxnSpPr/>
          <p:nvPr/>
        </p:nvCxnSpPr>
        <p:spPr>
          <a:xfrm>
            <a:off x="1212783" y="1029903"/>
            <a:ext cx="10308657" cy="0"/>
          </a:xfrm>
          <a:prstGeom prst="line">
            <a:avLst/>
          </a:prstGeom>
          <a:ln w="57150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311C618D-0693-0726-55FA-E1B553B536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53333" y="4116654"/>
            <a:ext cx="3885331" cy="274134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183907" y="327486"/>
            <a:ext cx="11715750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F497D"/>
                </a:solidFill>
              </a:rPr>
              <a:t>Verification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9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2DD6765-F4AB-4459-8516-EEA3F13521C8}">
  <we:reference id="wa200010001" version="1.0.0.1" store="en-US" storeType="OMEX"/>
  <we:alternateReferences>
    <we:reference id="wa200010001" version="1.0.0.1" store="wa200010001" storeType="OMEX"/>
  </we:alternateReferences>
  <we:properties>
    <we:property name="claude.fileId" value="&quot;23cd6f44-73e7-4900-ad4f-d89cf941af08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1435</TotalTime>
  <Words>1844</Words>
  <Application>Microsoft Office PowerPoint</Application>
  <PresentationFormat>Widescreen</PresentationFormat>
  <Paragraphs>174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Aptos</vt:lpstr>
      <vt:lpstr>Aptos Display</vt:lpstr>
      <vt:lpstr>Arial</vt:lpstr>
      <vt:lpstr>Consolas</vt:lpstr>
      <vt:lpstr>Office Theme</vt:lpstr>
      <vt:lpstr>ĐẠI HỌC QUỐC GIA THÀNH PHỐ HỒ CHÍ MINH TRƯỜNG ĐẠI HỌC BÁCH KHOA KHOA ĐIỆN - ĐIỆN TỬ  ·  BỘ MÔN ĐIỆN TỬ</vt:lpstr>
      <vt:lpstr>PowerPoint Presentation</vt:lpstr>
      <vt:lpstr>PowerPoint Presentation</vt:lpstr>
      <vt:lpstr>Nội Dung Báo Cáo</vt:lpstr>
      <vt:lpstr>Vector Load/Store Unit — Kiến Trúc</vt:lpstr>
      <vt:lpstr>VLSU — Interface Signals &amp; Protocol</vt:lpstr>
      <vt:lpstr>Scalar ↔ VPU Interface Signals</vt:lpstr>
      <vt:lpstr>Stall, Dispatch &amp; Hazard Handling</vt:lpstr>
      <vt:lpstr>Memory Architecture</vt:lpstr>
      <vt:lpstr>UART via TileLink-UL Bus</vt:lpstr>
      <vt:lpstr>riscv_vpu_top_v4 — System Integration</vt:lpstr>
      <vt:lpstr>Simulation &amp; Kết Quả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Nguyên Tường</dc:creator>
  <cp:lastModifiedBy>Khôi Phạm</cp:lastModifiedBy>
  <cp:revision>21</cp:revision>
  <dcterms:created xsi:type="dcterms:W3CDTF">2026-01-06T16:58:00Z</dcterms:created>
  <dcterms:modified xsi:type="dcterms:W3CDTF">2026-05-18T15:36:20Z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67C0AE5B8C274B1FB2D1486404413F77_12</vt:lpwstr>
  </property>
  <property fmtid="{D5CDD505-2E9C-101B-9397-08002B2CF9AE}" pid="3" name="KSOProductBuildVer">
    <vt:lpwstr>1033-12.2.0.23196</vt:lpwstr>
  </property>
</Properties>
</file>