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3"/>
  </p:notesMasterIdLst>
  <p:sldIdLst>
    <p:sldId id="278" r:id="rId2"/>
    <p:sldId id="280" r:id="rId3"/>
    <p:sldId id="281" r:id="rId4"/>
    <p:sldId id="295" r:id="rId5"/>
    <p:sldId id="282" r:id="rId6"/>
    <p:sldId id="296" r:id="rId7"/>
    <p:sldId id="298" r:id="rId8"/>
    <p:sldId id="283" r:id="rId9"/>
    <p:sldId id="26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7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3EFF1-6925-408E-BD6B-DD47F8D56D2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6BC8F-E85E-4A4E-8624-2FB1763FA7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A2B2-1E79-4C25-92C9-5E1043CE13A5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84BD6-7F83-4568-B70A-F657468A31BA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EB94-561B-4D73-B4C6-DF16DE2956B5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7C6-237B-4823-A937-596DB81B6503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A4F7-F0B2-4E58-8485-D498AD748580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CF98-443D-4FA8-80F8-8273D597AFBC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8AF73-CCA5-4FB8-833D-EA34EAB01DF1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DC3C-83FE-415E-8EF7-B92C49FFFE51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FAA7-5E91-44CD-A3B7-C41AAA3840C7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DBAEC-7E34-474B-B642-6A7CAEB21945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6DD5-4133-4BD0-B384-CDF9750CA1A6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7521-1A90-45FD-85AE-240E2F11EF19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629400"/>
            <a:ext cx="1828800" cy="4572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FooterBar"/>
          <p:cNvSpPr/>
          <p:nvPr userDrawn="1"/>
        </p:nvSpPr>
        <p:spPr>
          <a:xfrm>
            <a:off x="0" y="6675120"/>
            <a:ext cx="9144000" cy="178435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FooterText"/>
          <p:cNvSpPr txBox="1"/>
          <p:nvPr userDrawn="1"/>
        </p:nvSpPr>
        <p:spPr>
          <a:xfrm>
            <a:off x="228600" y="6705600"/>
            <a:ext cx="6400800" cy="142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</a:rPr>
              <a:t>HCMUT  |  Faculty of Electrical &amp; Electronics Engineering  |  RISC-V VPU Final Report</a:t>
            </a:r>
          </a:p>
        </p:txBody>
      </p:sp>
      <p:sp>
        <p:nvSpPr>
          <p:cNvPr id="903" name="PageNum"/>
          <p:cNvSpPr txBox="1">
            <a:spLocks noGrp="1"/>
          </p:cNvSpPr>
          <p:nvPr>
            <p:ph type="sldNum" sz="quarter" idx="100"/>
          </p:nvPr>
        </p:nvSpPr>
        <p:spPr>
          <a:xfrm>
            <a:off x="8458200" y="6705600"/>
            <a:ext cx="457200" cy="1428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D8E3F4A1-1234-5678-90AB-CDEF12345678}" type="slidenum">
              <a:rPr lang="en-US" sz="900" dirty="0">
                <a:solidFill>
                  <a:srgbClr val="FFFFFF"/>
                </a:solidFill>
              </a:rPr>
              <a:t>‹#›</a:t>
            </a:fld>
            <a:endParaRPr lang="en-US" sz="9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B1F3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93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Hero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B1F3A"/>
              </a:gs>
              <a:gs pos="100000">
                <a:srgbClr val="1B3A5C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89000"/>
            <a:ext cx="10668000" cy="1143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300" b="0" spc="200" dirty="0">
                <a:solidFill>
                  <a:srgbClr val="0EA5C9"/>
                </a:solidFill>
                <a:latin typeface="Calibri"/>
              </a:rPr>
              <a:t>VIETNAM NATIONAL UNIVERSITY  HO CHI MINH CITY</a:t>
            </a:r>
          </a:p>
          <a:p>
            <a:pPr algn="l">
              <a:buNone/>
            </a:pPr>
            <a:r>
              <a:rPr lang="en-US" sz="1500" b="1" spc="100" dirty="0">
                <a:solidFill>
                  <a:srgbClr val="FFFFFF"/>
                </a:solidFill>
                <a:latin typeface="Calibri"/>
              </a:rPr>
              <a:t>HO CHI MINH CITY UNIVERSITY OF TECHNOLOGY</a:t>
            </a:r>
          </a:p>
          <a:p>
            <a:pPr algn="l">
              <a:buNone/>
            </a:pPr>
            <a:r>
              <a:rPr lang="en-US" sz="1200" b="0" spc="100" dirty="0">
                <a:solidFill>
                  <a:srgbClr val="A9C7DD"/>
                </a:solidFill>
                <a:latin typeface="Calibri"/>
              </a:rPr>
              <a:t>Faculty of Electrical &amp; Electronics Engineering  ·  Department of Electronics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6000" y="5969000"/>
            <a:ext cx="6350000" cy="762000"/>
          </a:xfrm>
        </p:spPr>
        <p:txBody>
          <a:bodyPr>
            <a:normAutofit fontScale="85000" lnSpcReduction="2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Pham Anh Khoi</a:t>
            </a:r>
            <a:r>
              <a:rPr lang="en-US" sz="1400" dirty="0">
                <a:solidFill>
                  <a:srgbClr val="A9C7DD"/>
                </a:solidFill>
                <a:latin typeface="Calibri"/>
              </a:rPr>
              <a:t>   ·   Student ID: 2251026</a:t>
            </a:r>
          </a:p>
          <a:p>
            <a:pPr algn="l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</a:rPr>
              <a:t>Supervisor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A9C7DD"/>
                </a:solidFill>
                <a:latin typeface="Calibri"/>
              </a:rPr>
              <a:t> </a:t>
            </a:r>
            <a:r>
              <a:rPr lang="en-US" sz="1400" dirty="0" err="1">
                <a:solidFill>
                  <a:srgbClr val="A9C7DD"/>
                </a:solidFill>
                <a:latin typeface="Calibri"/>
              </a:rPr>
              <a:t>PGS.TS.Tran</a:t>
            </a:r>
            <a:r>
              <a:rPr lang="en-US" sz="1400" dirty="0">
                <a:solidFill>
                  <a:srgbClr val="A9C7DD"/>
                </a:solidFill>
                <a:latin typeface="Calibri"/>
              </a:rPr>
              <a:t> Hoang Linh</a:t>
            </a:r>
          </a:p>
          <a:p>
            <a:pPr algn="l">
              <a:buNone/>
            </a:pPr>
            <a:r>
              <a:rPr lang="en-US" sz="1400" dirty="0">
                <a:solidFill>
                  <a:srgbClr val="A9C7DD"/>
                </a:solidFill>
                <a:latin typeface="Calibri"/>
              </a:rPr>
              <a:t>                     Mr. Bui Le Quoc Doanh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762000"/>
            <a:ext cx="1206500" cy="1092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6000" y="3048000"/>
            <a:ext cx="76200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spc="400" dirty="0">
                <a:solidFill>
                  <a:srgbClr val="0EA5C9"/>
                </a:solidFill>
                <a:latin typeface="Calibri"/>
              </a:rPr>
              <a:t>CAPSTONE PROJECT 2 </a:t>
            </a:r>
            <a:endParaRPr lang="en-US" sz="800" dirty="0"/>
          </a:p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RISC-V Vector</a:t>
            </a:r>
          </a:p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Processing Unit</a:t>
            </a:r>
          </a:p>
          <a:p>
            <a:pPr algn="l">
              <a:buNone/>
            </a:pPr>
            <a:endParaRPr lang="en-US" sz="600" dirty="0"/>
          </a:p>
          <a:p>
            <a:pPr algn="l">
              <a:buNone/>
            </a:pPr>
            <a:r>
              <a:rPr lang="en-US" sz="1500" i="1" dirty="0">
                <a:solidFill>
                  <a:srgbClr val="A9C7DD"/>
                </a:solidFill>
                <a:latin typeface="Calibri"/>
              </a:rPr>
              <a:t>Zve32x ISA  ·  4-Lane SIMD</a:t>
            </a:r>
          </a:p>
        </p:txBody>
      </p:sp>
      <p:sp>
        <p:nvSpPr>
          <p:cNvPr id="951" name="AccentBarV"/>
          <p:cNvSpPr/>
          <p:nvPr/>
        </p:nvSpPr>
        <p:spPr>
          <a:xfrm>
            <a:off x="685800" y="1828800"/>
            <a:ext cx="60960" cy="20574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DecoBig"/>
          <p:cNvSpPr txBox="1"/>
          <p:nvPr/>
        </p:nvSpPr>
        <p:spPr>
          <a:xfrm>
            <a:off x="7874000" y="4191000"/>
            <a:ext cx="3429000" cy="6858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r">
              <a:buNone/>
            </a:pPr>
            <a:r>
              <a:rPr lang="en-US" sz="6000" b="1" dirty="0">
                <a:solidFill>
                  <a:srgbClr val="0EA5C9"/>
                </a:solidFill>
                <a:latin typeface="Calibri"/>
              </a:rPr>
              <a:t>RV32</a:t>
            </a:r>
          </a:p>
        </p:txBody>
      </p:sp>
    </p:spTree>
    <p:extLst>
      <p:ext uri="{BB962C8B-B14F-4D97-AF65-F5344CB8AC3E}">
        <p14:creationId xmlns:p14="http://schemas.microsoft.com/office/powerpoint/2010/main" val="298083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Accent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10795000" cy="635000"/>
          </a:xfrm>
        </p:spPr>
        <p:txBody>
          <a:bodyPr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1000" name="TocCard0"/>
          <p:cNvSpPr/>
          <p:nvPr/>
        </p:nvSpPr>
        <p:spPr>
          <a:xfrm>
            <a:off x="635000" y="13970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0" name="TocBadge0"/>
          <p:cNvSpPr txBox="1"/>
          <p:nvPr/>
        </p:nvSpPr>
        <p:spPr>
          <a:xfrm>
            <a:off x="635000" y="13970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01</a:t>
            </a:r>
          </a:p>
        </p:txBody>
      </p:sp>
      <p:sp>
        <p:nvSpPr>
          <p:cNvPr id="1200" name="TocText0"/>
          <p:cNvSpPr txBox="1"/>
          <p:nvPr/>
        </p:nvSpPr>
        <p:spPr>
          <a:xfrm>
            <a:off x="1447800" y="13970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Introduction &amp; Objectives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Project goals, ISA scope, design rules</a:t>
            </a:r>
          </a:p>
        </p:txBody>
      </p:sp>
      <p:sp>
        <p:nvSpPr>
          <p:cNvPr id="1001" name="TocCard1"/>
          <p:cNvSpPr/>
          <p:nvPr/>
        </p:nvSpPr>
        <p:spPr>
          <a:xfrm>
            <a:off x="635000" y="23876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1" name="TocBadge1"/>
          <p:cNvSpPr txBox="1"/>
          <p:nvPr/>
        </p:nvSpPr>
        <p:spPr>
          <a:xfrm>
            <a:off x="635000" y="23876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02</a:t>
            </a:r>
          </a:p>
        </p:txBody>
      </p:sp>
      <p:sp>
        <p:nvSpPr>
          <p:cNvPr id="1201" name="TocText1"/>
          <p:cNvSpPr txBox="1"/>
          <p:nvPr/>
        </p:nvSpPr>
        <p:spPr>
          <a:xfrm>
            <a:off x="1447800" y="23876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System Architecture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Top-level overview · riscv_vpu_top</a:t>
            </a:r>
          </a:p>
        </p:txBody>
      </p:sp>
      <p:sp>
        <p:nvSpPr>
          <p:cNvPr id="1002" name="TocCard2"/>
          <p:cNvSpPr/>
          <p:nvPr/>
        </p:nvSpPr>
        <p:spPr>
          <a:xfrm>
            <a:off x="635000" y="33782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2" name="TocBadge2"/>
          <p:cNvSpPr txBox="1"/>
          <p:nvPr/>
        </p:nvSpPr>
        <p:spPr>
          <a:xfrm>
            <a:off x="635000" y="33782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03</a:t>
            </a:r>
          </a:p>
        </p:txBody>
      </p:sp>
      <p:sp>
        <p:nvSpPr>
          <p:cNvPr id="1202" name="TocText2"/>
          <p:cNvSpPr txBox="1"/>
          <p:nvPr/>
        </p:nvSpPr>
        <p:spPr>
          <a:xfrm>
            <a:off x="1447800" y="33782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Scalar RISC-V Core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RV32IM · 5-stage pipeline · VPU dispatch</a:t>
            </a:r>
          </a:p>
        </p:txBody>
      </p:sp>
      <p:sp>
        <p:nvSpPr>
          <p:cNvPr id="1003" name="TocCard3"/>
          <p:cNvSpPr/>
          <p:nvPr/>
        </p:nvSpPr>
        <p:spPr>
          <a:xfrm>
            <a:off x="635000" y="43688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3" name="TocBadge3"/>
          <p:cNvSpPr txBox="1"/>
          <p:nvPr/>
        </p:nvSpPr>
        <p:spPr>
          <a:xfrm>
            <a:off x="635000" y="43688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04</a:t>
            </a:r>
          </a:p>
        </p:txBody>
      </p:sp>
      <p:sp>
        <p:nvSpPr>
          <p:cNvPr id="1203" name="TocText3"/>
          <p:cNvSpPr txBox="1"/>
          <p:nvPr/>
        </p:nvSpPr>
        <p:spPr>
          <a:xfrm>
            <a:off x="1447800" y="43688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Vector Processing Unit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Decoder · FSM · Lanes · LSU · Reduction</a:t>
            </a:r>
          </a:p>
        </p:txBody>
      </p:sp>
      <p:sp>
        <p:nvSpPr>
          <p:cNvPr id="1004" name="TocCard4"/>
          <p:cNvSpPr/>
          <p:nvPr/>
        </p:nvSpPr>
        <p:spPr>
          <a:xfrm>
            <a:off x="635000" y="53594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4" name="TocBadge4"/>
          <p:cNvSpPr txBox="1"/>
          <p:nvPr/>
        </p:nvSpPr>
        <p:spPr>
          <a:xfrm>
            <a:off x="635000" y="53594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05</a:t>
            </a:r>
          </a:p>
        </p:txBody>
      </p:sp>
      <p:sp>
        <p:nvSpPr>
          <p:cNvPr id="1204" name="TocText4"/>
          <p:cNvSpPr txBox="1"/>
          <p:nvPr/>
        </p:nvSpPr>
        <p:spPr>
          <a:xfrm>
            <a:off x="1447800" y="53594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Memory &amp; UART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Harvard arch · DMEM map · TL-UL UART</a:t>
            </a:r>
          </a:p>
        </p:txBody>
      </p:sp>
      <p:sp>
        <p:nvSpPr>
          <p:cNvPr id="1005" name="TocCard5"/>
          <p:cNvSpPr/>
          <p:nvPr/>
        </p:nvSpPr>
        <p:spPr>
          <a:xfrm>
            <a:off x="6223000" y="13970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5" name="TocBadge5"/>
          <p:cNvSpPr txBox="1"/>
          <p:nvPr/>
        </p:nvSpPr>
        <p:spPr>
          <a:xfrm>
            <a:off x="6223000" y="13970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06</a:t>
            </a:r>
          </a:p>
        </p:txBody>
      </p:sp>
      <p:sp>
        <p:nvSpPr>
          <p:cNvPr id="1205" name="TocText5"/>
          <p:cNvSpPr txBox="1"/>
          <p:nvPr/>
        </p:nvSpPr>
        <p:spPr>
          <a:xfrm>
            <a:off x="7035800" y="13970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Software &amp; Firmware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Toolchain · BT.601 vector kernel</a:t>
            </a:r>
          </a:p>
        </p:txBody>
      </p:sp>
      <p:sp>
        <p:nvSpPr>
          <p:cNvPr id="1006" name="TocCard6"/>
          <p:cNvSpPr/>
          <p:nvPr/>
        </p:nvSpPr>
        <p:spPr>
          <a:xfrm>
            <a:off x="6223000" y="23876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6" name="TocBadge6"/>
          <p:cNvSpPr txBox="1"/>
          <p:nvPr/>
        </p:nvSpPr>
        <p:spPr>
          <a:xfrm>
            <a:off x="6223000" y="23876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07</a:t>
            </a:r>
          </a:p>
        </p:txBody>
      </p:sp>
      <p:sp>
        <p:nvSpPr>
          <p:cNvPr id="1206" name="TocText6"/>
          <p:cNvSpPr txBox="1"/>
          <p:nvPr/>
        </p:nvSpPr>
        <p:spPr>
          <a:xfrm>
            <a:off x="7035800" y="23876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Verification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Unit · Integration · System tests</a:t>
            </a:r>
          </a:p>
        </p:txBody>
      </p:sp>
      <p:sp>
        <p:nvSpPr>
          <p:cNvPr id="1007" name="TocCard7"/>
          <p:cNvSpPr/>
          <p:nvPr/>
        </p:nvSpPr>
        <p:spPr>
          <a:xfrm>
            <a:off x="6223000" y="33782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7" name="TocBadge7"/>
          <p:cNvSpPr txBox="1"/>
          <p:nvPr/>
        </p:nvSpPr>
        <p:spPr>
          <a:xfrm>
            <a:off x="6223000" y="33782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08</a:t>
            </a:r>
          </a:p>
        </p:txBody>
      </p:sp>
      <p:sp>
        <p:nvSpPr>
          <p:cNvPr id="1207" name="TocText7"/>
          <p:cNvSpPr txBox="1"/>
          <p:nvPr/>
        </p:nvSpPr>
        <p:spPr>
          <a:xfrm>
            <a:off x="7035800" y="33782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FPGA Results &amp; Demo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Cyclone V synthesis · DE10 VGA demo</a:t>
            </a:r>
          </a:p>
        </p:txBody>
      </p:sp>
      <p:sp>
        <p:nvSpPr>
          <p:cNvPr id="1008" name="TocCard8"/>
          <p:cNvSpPr/>
          <p:nvPr/>
        </p:nvSpPr>
        <p:spPr>
          <a:xfrm>
            <a:off x="6223000" y="4368800"/>
            <a:ext cx="5207000" cy="78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8" name="TocBadge8"/>
          <p:cNvSpPr txBox="1"/>
          <p:nvPr/>
        </p:nvSpPr>
        <p:spPr>
          <a:xfrm>
            <a:off x="6223000" y="4368800"/>
            <a:ext cx="685800" cy="78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09</a:t>
            </a:r>
          </a:p>
        </p:txBody>
      </p:sp>
      <p:sp>
        <p:nvSpPr>
          <p:cNvPr id="1208" name="TocText8"/>
          <p:cNvSpPr txBox="1"/>
          <p:nvPr/>
        </p:nvSpPr>
        <p:spPr>
          <a:xfrm>
            <a:off x="7035800" y="4368800"/>
            <a:ext cx="4330700" cy="787400"/>
          </a:xfrm>
          <a:prstGeom prst="rect">
            <a:avLst/>
          </a:prstGeom>
          <a:noFill/>
        </p:spPr>
        <p:txBody>
          <a:bodyPr wrap="square" lIns="36000" tIns="36000" rIns="36000" bIns="36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Conclusion &amp; Future Work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Achievements · Path to tapeout</a:t>
            </a:r>
          </a:p>
        </p:txBody>
      </p:sp>
    </p:spTree>
    <p:extLst>
      <p:ext uri="{BB962C8B-B14F-4D97-AF65-F5344CB8AC3E}">
        <p14:creationId xmlns:p14="http://schemas.microsoft.com/office/powerpoint/2010/main" val="119336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Accent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2" name="PageLabel"/>
          <p:cNvSpPr txBox="1"/>
          <p:nvPr/>
        </p:nvSpPr>
        <p:spPr>
          <a:xfrm>
            <a:off x="7620000" y="355600"/>
            <a:ext cx="4318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01 · INTRODUCTION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6858000" cy="635000"/>
          </a:xfrm>
        </p:spPr>
        <p:txBody>
          <a:bodyPr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Introduction &amp; Objectives</a:t>
            </a:r>
          </a:p>
        </p:txBody>
      </p:sp>
      <p:sp>
        <p:nvSpPr>
          <p:cNvPr id="1000" name="Sect0Bg"/>
          <p:cNvSpPr/>
          <p:nvPr/>
        </p:nvSpPr>
        <p:spPr>
          <a:xfrm>
            <a:off x="508000" y="1270000"/>
            <a:ext cx="11176000" cy="1498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" name="Sect0Stripe"/>
          <p:cNvSpPr/>
          <p:nvPr/>
        </p:nvSpPr>
        <p:spPr>
          <a:xfrm>
            <a:off x="508000" y="1270000"/>
            <a:ext cx="63500" cy="14986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" name="Sect0Head"/>
          <p:cNvSpPr txBox="1"/>
          <p:nvPr/>
        </p:nvSpPr>
        <p:spPr>
          <a:xfrm>
            <a:off x="812800" y="1397000"/>
            <a:ext cx="10668000" cy="304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0EA5C9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Project Objective</a:t>
            </a:r>
          </a:p>
        </p:txBody>
      </p:sp>
      <p:sp>
        <p:nvSpPr>
          <p:cNvPr id="1003" name="Sect0Body"/>
          <p:cNvSpPr txBox="1"/>
          <p:nvPr/>
        </p:nvSpPr>
        <p:spPr>
          <a:xfrm>
            <a:off x="812800" y="1701800"/>
            <a:ext cx="106680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Design a VPU tightly integrated with a RISC-V scalar core, targeting ASIC tape-out.</a:t>
            </a:r>
          </a:p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ISA: rv32im_zicsr_zve32x_zvl128b — full Zve32x subset.</a:t>
            </a:r>
          </a:p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VLEN = 128 bits  ·  SEW = 8/16/32 bit  ·  LMUL = 1/2/4/8.</a:t>
            </a:r>
          </a:p>
        </p:txBody>
      </p:sp>
      <p:sp>
        <p:nvSpPr>
          <p:cNvPr id="1010" name="Sect1Bg"/>
          <p:cNvSpPr/>
          <p:nvPr/>
        </p:nvSpPr>
        <p:spPr>
          <a:xfrm>
            <a:off x="508000" y="2870200"/>
            <a:ext cx="11176000" cy="12192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1" name="Sect1Stripe"/>
          <p:cNvSpPr/>
          <p:nvPr/>
        </p:nvSpPr>
        <p:spPr>
          <a:xfrm>
            <a:off x="508000" y="2870200"/>
            <a:ext cx="63500" cy="121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2" name="Sect1Head"/>
          <p:cNvSpPr txBox="1"/>
          <p:nvPr/>
        </p:nvSpPr>
        <p:spPr>
          <a:xfrm>
            <a:off x="812800" y="2997200"/>
            <a:ext cx="10668000" cy="304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Showcase Application</a:t>
            </a:r>
          </a:p>
        </p:txBody>
      </p:sp>
      <p:sp>
        <p:nvSpPr>
          <p:cNvPr id="1013" name="Sect1Body"/>
          <p:cNvSpPr txBox="1"/>
          <p:nvPr/>
        </p:nvSpPr>
        <p:spPr>
          <a:xfrm>
            <a:off x="812800" y="3302000"/>
            <a:ext cx="10668000" cy="71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Real-time image processing — BT.601 RGB → Grayscale on Lena 128×128.</a:t>
            </a:r>
          </a:p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FPGA demo on DE10-Standard (Cyclone V) with live VGA output.</a:t>
            </a:r>
          </a:p>
        </p:txBody>
      </p:sp>
      <p:sp>
        <p:nvSpPr>
          <p:cNvPr id="1020" name="Sect2Bg"/>
          <p:cNvSpPr/>
          <p:nvPr/>
        </p:nvSpPr>
        <p:spPr>
          <a:xfrm>
            <a:off x="508000" y="4191000"/>
            <a:ext cx="11176000" cy="1498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1" name="Sect2Stripe"/>
          <p:cNvSpPr/>
          <p:nvPr/>
        </p:nvSpPr>
        <p:spPr>
          <a:xfrm>
            <a:off x="508000" y="4191000"/>
            <a:ext cx="63500" cy="149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2" name="Sect2Head"/>
          <p:cNvSpPr txBox="1"/>
          <p:nvPr/>
        </p:nvSpPr>
        <p:spPr>
          <a:xfrm>
            <a:off x="812800" y="4318000"/>
            <a:ext cx="10668000" cy="304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59E0B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RTL Design Rules (ASIC-Ready)</a:t>
            </a:r>
          </a:p>
        </p:txBody>
      </p:sp>
      <p:sp>
        <p:nvSpPr>
          <p:cNvPr id="1023" name="Sect2Body"/>
          <p:cNvSpPr txBox="1"/>
          <p:nvPr/>
        </p:nvSpPr>
        <p:spPr>
          <a:xfrm>
            <a:off x="812800" y="4622800"/>
            <a:ext cx="106680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No simulation-only constructs inside /rtl/.</a:t>
            </a:r>
          </a:p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Synchronous active-low reset across the entire hierarchy.</a:t>
            </a:r>
          </a:p>
          <a:p>
            <a:pPr marL="180000" indent="-180000" algn="l"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Parameterised interfaces — VLEN / SEW / LMUL are never hard-coded.</a:t>
            </a:r>
          </a:p>
        </p:txBody>
      </p:sp>
    </p:spTree>
    <p:extLst>
      <p:ext uri="{BB962C8B-B14F-4D97-AF65-F5344CB8AC3E}">
        <p14:creationId xmlns:p14="http://schemas.microsoft.com/office/powerpoint/2010/main" val="32715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System Architecture Overview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04 · ARCHITECTURE</a:t>
            </a:r>
          </a:p>
        </p:txBody>
      </p:sp>
      <p:sp>
        <p:nvSpPr>
          <p:cNvPr id="200" name="DiagramFrame"/>
          <p:cNvSpPr/>
          <p:nvPr/>
        </p:nvSpPr>
        <p:spPr>
          <a:xfrm>
            <a:off x="762000" y="1397000"/>
            <a:ext cx="1066800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9050" cap="flat">
            <a:solidFill>
              <a:srgbClr val="CBD5E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1" name="DiagramLabel"/>
          <p:cNvSpPr/>
          <p:nvPr/>
        </p:nvSpPr>
        <p:spPr>
          <a:xfrm>
            <a:off x="762000" y="2794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B1F3A"/>
                </a:solidFill>
                <a:latin typeface="Calibri"/>
              </a:rPr>
              <a:t>[ Insert architecture diagram ]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/>
              </a:rPr>
              <a:t>Scalar core ⟷ Decoder ⟷ FSM ⟷ Lane array ⟷ LSU ⟷ Memory subsystem</a:t>
            </a:r>
          </a:p>
        </p:txBody>
      </p:sp>
      <p:sp>
        <p:nvSpPr>
          <p:cNvPr id="202" name="Caption"/>
          <p:cNvSpPr/>
          <p:nvPr/>
        </p:nvSpPr>
        <p:spPr>
          <a:xfrm>
            <a:off x="762000" y="61849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End-to-end block diagram of the VPU integrated with the RISC-V scalar host.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86D00-E164-00F1-AC87-05C7092CC6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085" y="1231900"/>
            <a:ext cx="7963595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4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Accent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2" name="PageLabel"/>
          <p:cNvSpPr txBox="1"/>
          <p:nvPr/>
        </p:nvSpPr>
        <p:spPr>
          <a:xfrm>
            <a:off x="7620000" y="355600"/>
            <a:ext cx="4318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03 · SCALAR CORE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6858000" cy="635000"/>
          </a:xfrm>
        </p:spPr>
        <p:txBody>
          <a:bodyPr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Scalar RISC-V Core (RV32IM, 5-stage)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70000"/>
            <a:ext cx="11176000" cy="5207000"/>
          </a:xfrm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000" name="S0Bg"/>
          <p:cNvSpPr/>
          <p:nvPr/>
        </p:nvSpPr>
        <p:spPr>
          <a:xfrm>
            <a:off x="508000" y="1270000"/>
            <a:ext cx="11176000" cy="1168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" name="S0St"/>
          <p:cNvSpPr/>
          <p:nvPr/>
        </p:nvSpPr>
        <p:spPr>
          <a:xfrm>
            <a:off x="508000" y="1270000"/>
            <a:ext cx="63500" cy="11684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" name="S0H"/>
          <p:cNvSpPr txBox="1"/>
          <p:nvPr/>
        </p:nvSpPr>
        <p:spPr>
          <a:xfrm>
            <a:off x="812800" y="1397000"/>
            <a:ext cx="10668000" cy="304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0EA5C9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5-stage Pipeline (IF → ID → EX → MEM → WB)</a:t>
            </a:r>
          </a:p>
        </p:txBody>
      </p:sp>
      <p:sp>
        <p:nvSpPr>
          <p:cNvPr id="1003" name="S0B"/>
          <p:cNvSpPr txBox="1"/>
          <p:nvPr/>
        </p:nvSpPr>
        <p:spPr>
          <a:xfrm>
            <a:off x="812800" y="1701800"/>
            <a:ext cx="10668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Synchronous IMEM/DMEM (1-cycle latency), Harvard architecture.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Full forwarding paths: EX→MEM and MEM→WB bypass mux.</a:t>
            </a:r>
          </a:p>
        </p:txBody>
      </p:sp>
      <p:sp>
        <p:nvSpPr>
          <p:cNvPr id="1010" name="S1Bg"/>
          <p:cNvSpPr/>
          <p:nvPr/>
        </p:nvSpPr>
        <p:spPr>
          <a:xfrm>
            <a:off x="508000" y="2565400"/>
            <a:ext cx="11176000" cy="1168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1" name="S1St"/>
          <p:cNvSpPr/>
          <p:nvPr/>
        </p:nvSpPr>
        <p:spPr>
          <a:xfrm>
            <a:off x="508000" y="2565400"/>
            <a:ext cx="63500" cy="1168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2" name="S1H"/>
          <p:cNvSpPr txBox="1"/>
          <p:nvPr/>
        </p:nvSpPr>
        <p:spPr>
          <a:xfrm>
            <a:off x="812800" y="2692400"/>
            <a:ext cx="10668000" cy="304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Hazard Detection</a:t>
            </a:r>
          </a:p>
        </p:txBody>
      </p:sp>
      <p:sp>
        <p:nvSpPr>
          <p:cNvPr id="1013" name="S1B"/>
          <p:cNvSpPr txBox="1"/>
          <p:nvPr/>
        </p:nvSpPr>
        <p:spPr>
          <a:xfrm>
            <a:off x="812800" y="2997200"/>
            <a:ext cx="10668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Load-use: stall PC + IF/ID, inject bubble into EX.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VPU stall: freeze the entire pipeline when vpu_ready = 0.</a:t>
            </a:r>
          </a:p>
        </p:txBody>
      </p:sp>
      <p:sp>
        <p:nvSpPr>
          <p:cNvPr id="1020" name="S2Bg"/>
          <p:cNvSpPr/>
          <p:nvPr/>
        </p:nvSpPr>
        <p:spPr>
          <a:xfrm>
            <a:off x="508000" y="3860800"/>
            <a:ext cx="11176000" cy="1168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1" name="S2St"/>
          <p:cNvSpPr/>
          <p:nvPr/>
        </p:nvSpPr>
        <p:spPr>
          <a:xfrm>
            <a:off x="508000" y="3860800"/>
            <a:ext cx="63500" cy="1168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2" name="S2H"/>
          <p:cNvSpPr txBox="1"/>
          <p:nvPr/>
        </p:nvSpPr>
        <p:spPr>
          <a:xfrm>
            <a:off x="812800" y="3987800"/>
            <a:ext cx="10668000" cy="304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59E0B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VPU Dispatch Protocol</a:t>
            </a:r>
          </a:p>
        </p:txBody>
      </p:sp>
      <p:sp>
        <p:nvSpPr>
          <p:cNvPr id="1023" name="S2B"/>
          <p:cNvSpPr txBox="1"/>
          <p:nvPr/>
        </p:nvSpPr>
        <p:spPr>
          <a:xfrm>
            <a:off x="812800" y="4292600"/>
            <a:ext cx="10668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OP-V at EX stage: drive vpu_insn_vld + vpu_insn + rs1 / rs2.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vsetvl* writeback: wait for vpu_cfg_done, then write vl into the scalar register file.</a:t>
            </a:r>
          </a:p>
        </p:txBody>
      </p:sp>
    </p:spTree>
    <p:extLst>
      <p:ext uri="{BB962C8B-B14F-4D97-AF65-F5344CB8AC3E}">
        <p14:creationId xmlns:p14="http://schemas.microsoft.com/office/powerpoint/2010/main" val="162261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Scalar Core Pipeline Diagram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06 · SCALAR DIAGRAM</a:t>
            </a:r>
          </a:p>
        </p:txBody>
      </p:sp>
      <p:sp>
        <p:nvSpPr>
          <p:cNvPr id="200" name="DF"/>
          <p:cNvSpPr/>
          <p:nvPr/>
        </p:nvSpPr>
        <p:spPr>
          <a:xfrm>
            <a:off x="762000" y="1397000"/>
            <a:ext cx="1066800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9050" cap="flat">
            <a:solidFill>
              <a:srgbClr val="CBD5E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1" name="DL"/>
          <p:cNvSpPr/>
          <p:nvPr/>
        </p:nvSpPr>
        <p:spPr>
          <a:xfrm>
            <a:off x="762000" y="2794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B1F3A"/>
                </a:solidFill>
                <a:latin typeface="Calibri"/>
              </a:rPr>
              <a:t>[ Insert scalar pipeline diagram ]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/>
              </a:rPr>
              <a:t>IF → ID → EX → MEM → WB stages with vector-issue hand-off to the VPU</a:t>
            </a:r>
          </a:p>
        </p:txBody>
      </p:sp>
      <p:sp>
        <p:nvSpPr>
          <p:cNvPr id="202" name="Cap"/>
          <p:cNvSpPr/>
          <p:nvPr/>
        </p:nvSpPr>
        <p:spPr>
          <a:xfrm>
            <a:off x="762000" y="60706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5-stage RV32IM pipeline showing where vector instructions branch out to the VPU dispatcher.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9EBB5-5CAA-54AB-B018-58ECEB96B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97000"/>
            <a:ext cx="1066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7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2E4C-D6AB-E4F7-992A-F1ED04D57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>
            <a:extLst>
              <a:ext uri="{FF2B5EF4-FFF2-40B4-BE49-F238E27FC236}">
                <a16:creationId xmlns:a16="http://schemas.microsoft.com/office/drawing/2014/main" id="{CDDA5D58-481A-2CB8-0410-39BE950504D9}"/>
              </a:ext>
            </a:extLst>
          </p:cNvPr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>
            <a:extLst>
              <a:ext uri="{FF2B5EF4-FFF2-40B4-BE49-F238E27FC236}">
                <a16:creationId xmlns:a16="http://schemas.microsoft.com/office/drawing/2014/main" id="{AB3F9C4B-E5A0-78E5-0C66-FD32F9075096}"/>
              </a:ext>
            </a:extLst>
          </p:cNvPr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>
            <a:extLst>
              <a:ext uri="{FF2B5EF4-FFF2-40B4-BE49-F238E27FC236}">
                <a16:creationId xmlns:a16="http://schemas.microsoft.com/office/drawing/2014/main" id="{0EB9BE58-0AB7-B355-19A1-1DA2A835C1B9}"/>
              </a:ext>
            </a:extLst>
          </p:cNvPr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VPU Diagram</a:t>
            </a:r>
          </a:p>
        </p:txBody>
      </p:sp>
      <p:sp>
        <p:nvSpPr>
          <p:cNvPr id="103" name="PageLabel">
            <a:extLst>
              <a:ext uri="{FF2B5EF4-FFF2-40B4-BE49-F238E27FC236}">
                <a16:creationId xmlns:a16="http://schemas.microsoft.com/office/drawing/2014/main" id="{27BF761A-D85F-D581-3336-33448022CDB6}"/>
              </a:ext>
            </a:extLst>
          </p:cNvPr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06 · VPU DIAGRAM</a:t>
            </a:r>
          </a:p>
        </p:txBody>
      </p:sp>
      <p:sp>
        <p:nvSpPr>
          <p:cNvPr id="200" name="DF">
            <a:extLst>
              <a:ext uri="{FF2B5EF4-FFF2-40B4-BE49-F238E27FC236}">
                <a16:creationId xmlns:a16="http://schemas.microsoft.com/office/drawing/2014/main" id="{4153660D-A654-C385-D4C6-0AD12E34A0D0}"/>
              </a:ext>
            </a:extLst>
          </p:cNvPr>
          <p:cNvSpPr/>
          <p:nvPr/>
        </p:nvSpPr>
        <p:spPr>
          <a:xfrm>
            <a:off x="762000" y="1397000"/>
            <a:ext cx="1066800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9050" cap="flat">
            <a:solidFill>
              <a:srgbClr val="CBD5E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1" name="DL">
            <a:extLst>
              <a:ext uri="{FF2B5EF4-FFF2-40B4-BE49-F238E27FC236}">
                <a16:creationId xmlns:a16="http://schemas.microsoft.com/office/drawing/2014/main" id="{68049C0F-B1B3-9F3D-363A-EEFA8D85371A}"/>
              </a:ext>
            </a:extLst>
          </p:cNvPr>
          <p:cNvSpPr/>
          <p:nvPr/>
        </p:nvSpPr>
        <p:spPr>
          <a:xfrm>
            <a:off x="762000" y="2794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B1F3A"/>
                </a:solidFill>
                <a:latin typeface="Calibri"/>
              </a:rPr>
              <a:t>[ Insert scalar pipeline diagram ]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/>
              </a:rPr>
              <a:t>IF → ID → EX → MEM → WB stages with vector-issue hand-off to the VPU</a:t>
            </a:r>
          </a:p>
        </p:txBody>
      </p:sp>
      <p:sp>
        <p:nvSpPr>
          <p:cNvPr id="202" name="Cap">
            <a:extLst>
              <a:ext uri="{FF2B5EF4-FFF2-40B4-BE49-F238E27FC236}">
                <a16:creationId xmlns:a16="http://schemas.microsoft.com/office/drawing/2014/main" id="{94CF21C0-FF25-0D9E-EE26-B5AB841BA822}"/>
              </a:ext>
            </a:extLst>
          </p:cNvPr>
          <p:cNvSpPr/>
          <p:nvPr/>
        </p:nvSpPr>
        <p:spPr>
          <a:xfrm>
            <a:off x="762000" y="60706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VPU 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53824-F32C-302E-7A2E-2AF19CA18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99" y="-1056640"/>
            <a:ext cx="8326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4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Accent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2" name="PageLabel"/>
          <p:cNvSpPr txBox="1"/>
          <p:nvPr/>
        </p:nvSpPr>
        <p:spPr>
          <a:xfrm>
            <a:off x="7620000" y="355600"/>
            <a:ext cx="4318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04 · DECODER &amp; FSM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6858000" cy="635000"/>
          </a:xfrm>
        </p:spPr>
        <p:txBody>
          <a:bodyPr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Decoder &amp; FSM Sequencer</a:t>
            </a:r>
          </a:p>
        </p:txBody>
      </p:sp>
      <p:sp>
        <p:nvSpPr>
          <p:cNvPr id="1000" name="S0Bg"/>
          <p:cNvSpPr/>
          <p:nvPr/>
        </p:nvSpPr>
        <p:spPr>
          <a:xfrm>
            <a:off x="508000" y="1270000"/>
            <a:ext cx="5384800" cy="193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" name="S0St"/>
          <p:cNvSpPr/>
          <p:nvPr/>
        </p:nvSpPr>
        <p:spPr>
          <a:xfrm>
            <a:off x="507999" y="1270000"/>
            <a:ext cx="64105" cy="19304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" name="S0H"/>
          <p:cNvSpPr txBox="1"/>
          <p:nvPr/>
        </p:nvSpPr>
        <p:spPr>
          <a:xfrm>
            <a:off x="812800" y="1397000"/>
            <a:ext cx="4871962" cy="35098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0EA5C9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vproc_vdecoder — 49-bit ctrl_bus</a:t>
            </a:r>
          </a:p>
        </p:txBody>
      </p:sp>
      <p:sp>
        <p:nvSpPr>
          <p:cNvPr id="1003" name="S0B"/>
          <p:cNvSpPr txBox="1"/>
          <p:nvPr/>
        </p:nvSpPr>
        <p:spPr>
          <a:xfrm>
            <a:off x="812800" y="1701800"/>
            <a:ext cx="4871962" cy="13454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32-bit instruction → 49-bit control bus (Fixed Control).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Bits [4:0] vs1_addr · [9:5] vs2_addr · [14:10] vd_addr.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Bits [20:15] funct6 · [21] is_widen · [24] is_subtraction.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Bits [29] is_vector · [31] vm = insn[25] · [47] is_reduction.</a:t>
            </a:r>
          </a:p>
        </p:txBody>
      </p:sp>
      <p:sp>
        <p:nvSpPr>
          <p:cNvPr id="1010" name="S1Bg"/>
          <p:cNvSpPr/>
          <p:nvPr/>
        </p:nvSpPr>
        <p:spPr>
          <a:xfrm>
            <a:off x="6096000" y="1270000"/>
            <a:ext cx="5334000" cy="193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1" name="S1St"/>
          <p:cNvSpPr/>
          <p:nvPr/>
        </p:nvSpPr>
        <p:spPr>
          <a:xfrm>
            <a:off x="6096000" y="1270000"/>
            <a:ext cx="63500" cy="193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2" name="S1H"/>
          <p:cNvSpPr txBox="1"/>
          <p:nvPr/>
        </p:nvSpPr>
        <p:spPr>
          <a:xfrm>
            <a:off x="6400800" y="1397000"/>
            <a:ext cx="4826000" cy="304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59E0B"/>
                </a:solidFill>
                <a:latin typeface="Calibri"/>
              </a:rPr>
              <a:t>▸ 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5 Instruction Groups</a:t>
            </a:r>
          </a:p>
        </p:txBody>
      </p:sp>
      <p:sp>
        <p:nvSpPr>
          <p:cNvPr id="1013" name="S1B"/>
          <p:cNvSpPr txBox="1"/>
          <p:nvPr/>
        </p:nvSpPr>
        <p:spPr>
          <a:xfrm>
            <a:off x="6400800" y="1701800"/>
            <a:ext cx="4826000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Config (vsetvl*): 1 cycle, ST_CONFIG → updates vl / vtype CSRs.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Exec: arithmetic / logic / shift / mul / minmax → ST_EXEC.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Masking: compare ops → ST_MASKING + ST_FINAL_MASKING.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Widening: 2-phase → ST_WIDENL + ST_WIDENH.</a:t>
            </a:r>
          </a:p>
          <a:p>
            <a:pPr marL="180000" indent="-180000" algn="l"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Reduction: serial accumulator → ST_REDUCTION + ST_REDUCTION_DONE.</a:t>
            </a:r>
          </a:p>
        </p:txBody>
      </p:sp>
    </p:spTree>
    <p:extLst>
      <p:ext uri="{BB962C8B-B14F-4D97-AF65-F5344CB8AC3E}">
        <p14:creationId xmlns:p14="http://schemas.microsoft.com/office/powerpoint/2010/main" val="285552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83A93E-9EC0-7799-77BB-A742CB4AF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75" y="97026"/>
            <a:ext cx="4667250" cy="6486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Accent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2" name="PageLabel"/>
          <p:cNvSpPr txBox="1"/>
          <p:nvPr/>
        </p:nvSpPr>
        <p:spPr>
          <a:xfrm>
            <a:off x="7620000" y="355600"/>
            <a:ext cx="4318000" cy="406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04 · EXECUTION LANE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7620000" cy="635000"/>
          </a:xfrm>
        </p:spPr>
        <p:txBody>
          <a:bodyPr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Execution Lane (vproc_processor_lane × 4)</a:t>
            </a:r>
          </a:p>
        </p:txBody>
      </p:sp>
      <p:sp>
        <p:nvSpPr>
          <p:cNvPr id="900" name="Callout"/>
          <p:cNvSpPr/>
          <p:nvPr/>
        </p:nvSpPr>
        <p:spPr>
          <a:xfrm>
            <a:off x="508000" y="1270000"/>
            <a:ext cx="11176000" cy="762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txBody>
          <a:bodyPr wrap="square" lIns="180000" tIns="90000" rIns="180000" bIns="9000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EA5C9"/>
                </a:solidFill>
                <a:latin typeface="Calibri"/>
              </a:rPr>
              <a:t>4 lanes × 32 bits  =  128 bits / cycle</a:t>
            </a:r>
            <a:r>
              <a:rPr lang="en-US" sz="1400" dirty="0">
                <a:solidFill>
                  <a:srgbClr val="A9C7DD"/>
                </a:solidFill>
                <a:latin typeface="Calibri"/>
              </a:rPr>
              <a:t>     ·     SEW slicing: 4×8b  /  2×16b  /  1×32b</a:t>
            </a:r>
          </a:p>
        </p:txBody>
      </p:sp>
      <p:sp>
        <p:nvSpPr>
          <p:cNvPr id="1000" name="Fu0"/>
          <p:cNvSpPr/>
          <p:nvPr/>
        </p:nvSpPr>
        <p:spPr>
          <a:xfrm>
            <a:off x="508000" y="2286000"/>
            <a:ext cx="2667000" cy="1206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" name="FuB0"/>
          <p:cNvSpPr/>
          <p:nvPr/>
        </p:nvSpPr>
        <p:spPr>
          <a:xfrm>
            <a:off x="508000" y="2286000"/>
            <a:ext cx="2667000" cy="635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" name="FuT0"/>
          <p:cNvSpPr txBox="1"/>
          <p:nvPr/>
        </p:nvSpPr>
        <p:spPr>
          <a:xfrm>
            <a:off x="660400" y="2476500"/>
            <a:ext cx="2362200" cy="927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Adder</a:t>
            </a:r>
          </a:p>
          <a:p>
            <a:pPr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VADD/VSUB/VRSUB · carry/borrow</a:t>
            </a:r>
          </a:p>
        </p:txBody>
      </p:sp>
      <p:sp>
        <p:nvSpPr>
          <p:cNvPr id="1005" name="Fu1"/>
          <p:cNvSpPr/>
          <p:nvPr/>
        </p:nvSpPr>
        <p:spPr>
          <a:xfrm>
            <a:off x="3340100" y="2286000"/>
            <a:ext cx="2667000" cy="1206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6" name="FuB1"/>
          <p:cNvSpPr/>
          <p:nvPr/>
        </p:nvSpPr>
        <p:spPr>
          <a:xfrm>
            <a:off x="3340100" y="2286000"/>
            <a:ext cx="26670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7" name="FuT1"/>
          <p:cNvSpPr txBox="1"/>
          <p:nvPr/>
        </p:nvSpPr>
        <p:spPr>
          <a:xfrm>
            <a:off x="3492500" y="2476500"/>
            <a:ext cx="2362200" cy="927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Multiplier</a:t>
            </a:r>
          </a:p>
          <a:p>
            <a:pPr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VMUL/VMULH/VMULHU/VMULHSU</a:t>
            </a:r>
          </a:p>
        </p:txBody>
      </p:sp>
      <p:sp>
        <p:nvSpPr>
          <p:cNvPr id="1010" name="Fu2"/>
          <p:cNvSpPr/>
          <p:nvPr/>
        </p:nvSpPr>
        <p:spPr>
          <a:xfrm>
            <a:off x="6172200" y="2286000"/>
            <a:ext cx="2667000" cy="1206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1" name="FuB2"/>
          <p:cNvSpPr/>
          <p:nvPr/>
        </p:nvSpPr>
        <p:spPr>
          <a:xfrm>
            <a:off x="6172200" y="2286000"/>
            <a:ext cx="26670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2" name="FuT2"/>
          <p:cNvSpPr txBox="1"/>
          <p:nvPr/>
        </p:nvSpPr>
        <p:spPr>
          <a:xfrm>
            <a:off x="6324600" y="2476500"/>
            <a:ext cx="2362200" cy="927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Shifter</a:t>
            </a:r>
          </a:p>
          <a:p>
            <a:pPr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VSLL/VSRL/VSRA · SEW-masked</a:t>
            </a:r>
          </a:p>
        </p:txBody>
      </p:sp>
      <p:sp>
        <p:nvSpPr>
          <p:cNvPr id="1015" name="Fu3"/>
          <p:cNvSpPr/>
          <p:nvPr/>
        </p:nvSpPr>
        <p:spPr>
          <a:xfrm>
            <a:off x="9004300" y="2286000"/>
            <a:ext cx="2667000" cy="1206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6" name="FuB3"/>
          <p:cNvSpPr/>
          <p:nvPr/>
        </p:nvSpPr>
        <p:spPr>
          <a:xfrm>
            <a:off x="9004300" y="2286000"/>
            <a:ext cx="266700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7" name="FuT3"/>
          <p:cNvSpPr txBox="1"/>
          <p:nvPr/>
        </p:nvSpPr>
        <p:spPr>
          <a:xfrm>
            <a:off x="9156700" y="2476500"/>
            <a:ext cx="2362200" cy="927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Logic</a:t>
            </a:r>
          </a:p>
          <a:p>
            <a:pPr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VAND / VOR / VXOR</a:t>
            </a:r>
          </a:p>
        </p:txBody>
      </p:sp>
      <p:sp>
        <p:nvSpPr>
          <p:cNvPr id="1020" name="Fu4"/>
          <p:cNvSpPr/>
          <p:nvPr/>
        </p:nvSpPr>
        <p:spPr>
          <a:xfrm>
            <a:off x="508000" y="3670300"/>
            <a:ext cx="2667000" cy="1206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1" name="FuB4"/>
          <p:cNvSpPr/>
          <p:nvPr/>
        </p:nvSpPr>
        <p:spPr>
          <a:xfrm>
            <a:off x="508000" y="3670300"/>
            <a:ext cx="2667000" cy="6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2" name="FuT4"/>
          <p:cNvSpPr txBox="1"/>
          <p:nvPr/>
        </p:nvSpPr>
        <p:spPr>
          <a:xfrm>
            <a:off x="660400" y="3860800"/>
            <a:ext cx="2362200" cy="927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Compare</a:t>
            </a:r>
          </a:p>
          <a:p>
            <a:pPr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vmseq, vmslt … · 4-bit mask/word</a:t>
            </a:r>
          </a:p>
        </p:txBody>
      </p:sp>
      <p:sp>
        <p:nvSpPr>
          <p:cNvPr id="1025" name="Fu5"/>
          <p:cNvSpPr/>
          <p:nvPr/>
        </p:nvSpPr>
        <p:spPr>
          <a:xfrm>
            <a:off x="3340100" y="3670300"/>
            <a:ext cx="2667000" cy="1206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6" name="FuB5"/>
          <p:cNvSpPr/>
          <p:nvPr/>
        </p:nvSpPr>
        <p:spPr>
          <a:xfrm>
            <a:off x="3340100" y="3670300"/>
            <a:ext cx="266700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7" name="FuT5"/>
          <p:cNvSpPr txBox="1"/>
          <p:nvPr/>
        </p:nvSpPr>
        <p:spPr>
          <a:xfrm>
            <a:off x="3492500" y="3860800"/>
            <a:ext cx="2362200" cy="927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MinMax</a:t>
            </a:r>
          </a:p>
          <a:p>
            <a:pPr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Signed &amp; unsigned variants</a:t>
            </a:r>
          </a:p>
        </p:txBody>
      </p:sp>
      <p:sp>
        <p:nvSpPr>
          <p:cNvPr id="1030" name="Fu6"/>
          <p:cNvSpPr/>
          <p:nvPr/>
        </p:nvSpPr>
        <p:spPr>
          <a:xfrm>
            <a:off x="6172200" y="3670300"/>
            <a:ext cx="2667000" cy="1206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1" name="FuB6"/>
          <p:cNvSpPr/>
          <p:nvPr/>
        </p:nvSpPr>
        <p:spPr>
          <a:xfrm>
            <a:off x="6172200" y="3670300"/>
            <a:ext cx="2667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2" name="FuT6"/>
          <p:cNvSpPr txBox="1"/>
          <p:nvPr/>
        </p:nvSpPr>
        <p:spPr>
          <a:xfrm>
            <a:off x="6324600" y="3860800"/>
            <a:ext cx="2362200" cy="927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Reduction</a:t>
            </a:r>
          </a:p>
          <a:p>
            <a:pPr algn="l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Serial per-element accumulator</a:t>
            </a:r>
          </a:p>
        </p:txBody>
      </p:sp>
    </p:spTree>
    <p:extLst>
      <p:ext uri="{BB962C8B-B14F-4D97-AF65-F5344CB8AC3E}">
        <p14:creationId xmlns:p14="http://schemas.microsoft.com/office/powerpoint/2010/main" val="2202775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685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Load / Store Unit (LSU)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10 · LSU</a:t>
            </a:r>
          </a:p>
        </p:txBody>
      </p:sp>
      <p:sp>
        <p:nvSpPr>
          <p:cNvPr id="200" name="Card"/>
          <p:cNvSpPr/>
          <p:nvPr/>
        </p:nvSpPr>
        <p:spPr>
          <a:xfrm>
            <a:off x="508000" y="12700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ardStripe"/>
          <p:cNvSpPr/>
          <p:nvPr/>
        </p:nvSpPr>
        <p:spPr>
          <a:xfrm>
            <a:off x="508000" y="1270000"/>
            <a:ext cx="63500" cy="15875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CardText"/>
          <p:cNvSpPr/>
          <p:nvPr/>
        </p:nvSpPr>
        <p:spPr>
          <a:xfrm>
            <a:off x="736600" y="13716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Strided Load / Store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Generates aligned addresses for vle.v, vse.v, vlse.v and vsse.v instructions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Issues memory requests element-by-element; rotates write-back across the lane register file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Single AXI-Lite master at 32-bit width — one outstanding transaction per cycle</a:t>
            </a:r>
          </a:p>
        </p:txBody>
      </p:sp>
      <p:sp>
        <p:nvSpPr>
          <p:cNvPr id="203" name="Card"/>
          <p:cNvSpPr/>
          <p:nvPr/>
        </p:nvSpPr>
        <p:spPr>
          <a:xfrm>
            <a:off x="508000" y="29718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CardStripe"/>
          <p:cNvSpPr/>
          <p:nvPr/>
        </p:nvSpPr>
        <p:spPr>
          <a:xfrm>
            <a:off x="508000" y="2971800"/>
            <a:ext cx="63500" cy="1587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CardText"/>
          <p:cNvSpPr/>
          <p:nvPr/>
        </p:nvSpPr>
        <p:spPr>
          <a:xfrm>
            <a:off x="736600" y="30734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Indexed (Gather / Scatter) Access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vluxei.v and vsuxei.v use an index vector to drive each effective address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Address generator multiplexes between sequential, strided and indexed modes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Stalls the lane pipeline until the request returns to keep the register file coherent</a:t>
            </a:r>
          </a:p>
        </p:txBody>
      </p:sp>
      <p:sp>
        <p:nvSpPr>
          <p:cNvPr id="206" name="Card"/>
          <p:cNvSpPr/>
          <p:nvPr/>
        </p:nvSpPr>
        <p:spPr>
          <a:xfrm>
            <a:off x="508000" y="46736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CardStripe"/>
          <p:cNvSpPr/>
          <p:nvPr/>
        </p:nvSpPr>
        <p:spPr>
          <a:xfrm>
            <a:off x="508000" y="4673600"/>
            <a:ext cx="63500" cy="158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CardText"/>
          <p:cNvSpPr/>
          <p:nvPr/>
        </p:nvSpPr>
        <p:spPr>
          <a:xfrm>
            <a:off x="736600" y="47752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Hazards &amp; Back-Pressure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RAW hazards on the vector register file resolved by a small scoreboard per lane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LSU asserts mem_busy to freeze the FSM until in-flight transactions retire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Misaligned addresses raise a trap into the scalar core for the host to handle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693CD-4D6F-AB6A-2023-6EFDFEE92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782" y="2449513"/>
            <a:ext cx="4589318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61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685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Reduction Unit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11 · REDUCTION</a:t>
            </a:r>
          </a:p>
        </p:txBody>
      </p:sp>
      <p:sp>
        <p:nvSpPr>
          <p:cNvPr id="200" name="Card"/>
          <p:cNvSpPr/>
          <p:nvPr/>
        </p:nvSpPr>
        <p:spPr>
          <a:xfrm>
            <a:off x="508000" y="12700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tripe"/>
          <p:cNvSpPr/>
          <p:nvPr/>
        </p:nvSpPr>
        <p:spPr>
          <a:xfrm>
            <a:off x="508000" y="1270000"/>
            <a:ext cx="63500" cy="1587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"/>
          <p:cNvSpPr/>
          <p:nvPr/>
        </p:nvSpPr>
        <p:spPr>
          <a:xfrm>
            <a:off x="736600" y="13716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Supported Operations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Sum reduction (vredsum.vs), min / max (vredmin / vredmax), and bitwise variants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Inputs come from a lane group; the scalar result is written back to vd[0]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Handles signed and unsigned forms — opcode bit selects comparator polarity</a:t>
            </a:r>
          </a:p>
        </p:txBody>
      </p:sp>
      <p:sp>
        <p:nvSpPr>
          <p:cNvPr id="203" name="Card"/>
          <p:cNvSpPr/>
          <p:nvPr/>
        </p:nvSpPr>
        <p:spPr>
          <a:xfrm>
            <a:off x="508000" y="29718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Stripe"/>
          <p:cNvSpPr/>
          <p:nvPr/>
        </p:nvSpPr>
        <p:spPr>
          <a:xfrm>
            <a:off x="508000" y="2971800"/>
            <a:ext cx="63500" cy="1587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"/>
          <p:cNvSpPr/>
          <p:nvPr/>
        </p:nvSpPr>
        <p:spPr>
          <a:xfrm>
            <a:off x="736600" y="30734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Tree-Reduction Pipeline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log₂(LANES) stages of pair-wise combiners — 3 stages for an 8-lane configuration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Each stage registered to keep f_max above 100 MHz on the Cyclone V target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Latency = log₂(LANES) + 1 cycles; throughput = one element per cycle per lane</a:t>
            </a:r>
          </a:p>
        </p:txBody>
      </p:sp>
      <p:sp>
        <p:nvSpPr>
          <p:cNvPr id="206" name="Card"/>
          <p:cNvSpPr/>
          <p:nvPr/>
        </p:nvSpPr>
        <p:spPr>
          <a:xfrm>
            <a:off x="508000" y="46736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Stripe"/>
          <p:cNvSpPr/>
          <p:nvPr/>
        </p:nvSpPr>
        <p:spPr>
          <a:xfrm>
            <a:off x="508000" y="4673600"/>
            <a:ext cx="63500" cy="1587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"/>
          <p:cNvSpPr/>
          <p:nvPr/>
        </p:nvSpPr>
        <p:spPr>
          <a:xfrm>
            <a:off x="736600" y="47752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Lane / Reduction Interaction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Lane execution units forward partial results into the reduction tree without touching the bus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FSM holds the lanes in REDUCE state until the tree drains the final scalar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Result returned to the scalar core through the vector status &amp; result register</a:t>
            </a:r>
          </a:p>
        </p:txBody>
      </p:sp>
    </p:spTree>
    <p:extLst>
      <p:ext uri="{BB962C8B-B14F-4D97-AF65-F5344CB8AC3E}">
        <p14:creationId xmlns:p14="http://schemas.microsoft.com/office/powerpoint/2010/main" val="3903518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Memory Subsystem &amp; UART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12 · MEMORY / I/O</a:t>
            </a:r>
          </a:p>
        </p:txBody>
      </p:sp>
      <p:sp>
        <p:nvSpPr>
          <p:cNvPr id="200" name="Card"/>
          <p:cNvSpPr/>
          <p:nvPr/>
        </p:nvSpPr>
        <p:spPr>
          <a:xfrm>
            <a:off x="508000" y="12700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tripe"/>
          <p:cNvSpPr/>
          <p:nvPr/>
        </p:nvSpPr>
        <p:spPr>
          <a:xfrm>
            <a:off x="508000" y="1270000"/>
            <a:ext cx="63500" cy="15875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"/>
          <p:cNvSpPr/>
          <p:nvPr/>
        </p:nvSpPr>
        <p:spPr>
          <a:xfrm>
            <a:off x="736600" y="13716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On-Chip Memory Map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Instruction RAM (IRAM): 16 KB, 32-bit word, single-cycle read for the scalar fetch stage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Data RAM (DRAM): 32 KB, dual-port — port A for scalar core, port B for VPU AXI master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Memory-mapped peripherals share the 0x4000_0000 region behind a simple bus mux</a:t>
            </a:r>
          </a:p>
        </p:txBody>
      </p:sp>
      <p:sp>
        <p:nvSpPr>
          <p:cNvPr id="203" name="Card"/>
          <p:cNvSpPr/>
          <p:nvPr/>
        </p:nvSpPr>
        <p:spPr>
          <a:xfrm>
            <a:off x="508000" y="29718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Stripe"/>
          <p:cNvSpPr/>
          <p:nvPr/>
        </p:nvSpPr>
        <p:spPr>
          <a:xfrm>
            <a:off x="508000" y="2971800"/>
            <a:ext cx="63500" cy="158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"/>
          <p:cNvSpPr/>
          <p:nvPr/>
        </p:nvSpPr>
        <p:spPr>
          <a:xfrm>
            <a:off x="736600" y="30734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Bus Arbitration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Round-robin arbiter between scalar load/store and VPU LSU requests on the DRAM port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Single-cycle grant; back-pressure propagated via the AXI VALID/READY handshake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No outstanding write buffer — keeps semantics simple for verification and debug</a:t>
            </a:r>
          </a:p>
        </p:txBody>
      </p:sp>
      <p:sp>
        <p:nvSpPr>
          <p:cNvPr id="207" name="Stripe"/>
          <p:cNvSpPr/>
          <p:nvPr/>
        </p:nvSpPr>
        <p:spPr>
          <a:xfrm>
            <a:off x="508000" y="4673600"/>
            <a:ext cx="63500" cy="1587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"/>
          <p:cNvSpPr/>
          <p:nvPr/>
        </p:nvSpPr>
        <p:spPr>
          <a:xfrm>
            <a:off x="736600" y="47752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UART for Host Communication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115200 baud, 8N1; TX / RX FIFOs of 16 bytes each with status registers at 0x4000_1000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Used by the host PC to stream test vectors in and dump vector register contents out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Drives the demo workflow on the DE10-Standard board — no JTAG required at runtime</a:t>
            </a:r>
          </a:p>
        </p:txBody>
      </p:sp>
    </p:spTree>
    <p:extLst>
      <p:ext uri="{BB962C8B-B14F-4D97-AF65-F5344CB8AC3E}">
        <p14:creationId xmlns:p14="http://schemas.microsoft.com/office/powerpoint/2010/main" val="4107955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Software Toolchain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13 · SOFTWARE</a:t>
            </a:r>
          </a:p>
        </p:txBody>
      </p:sp>
      <p:sp>
        <p:nvSpPr>
          <p:cNvPr id="200" name="Card"/>
          <p:cNvSpPr/>
          <p:nvPr/>
        </p:nvSpPr>
        <p:spPr>
          <a:xfrm>
            <a:off x="508000" y="12700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tripe"/>
          <p:cNvSpPr/>
          <p:nvPr/>
        </p:nvSpPr>
        <p:spPr>
          <a:xfrm>
            <a:off x="508000" y="1270000"/>
            <a:ext cx="63500" cy="15875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"/>
          <p:cNvSpPr/>
          <p:nvPr/>
        </p:nvSpPr>
        <p:spPr>
          <a:xfrm>
            <a:off x="736600" y="13716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Compiler &amp; Assembler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riscv-gnu-toolchain built with rv32imv multilib; vector intrinsics enabled by -march=rv32imv_zicsr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Hand-written assembly used for performance-critical inner loops; C wrappers expose the API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Custom linker script places .text in IRAM and .data / .bss in DRAM with explicit alignment</a:t>
            </a:r>
          </a:p>
        </p:txBody>
      </p:sp>
      <p:sp>
        <p:nvSpPr>
          <p:cNvPr id="203" name="Card"/>
          <p:cNvSpPr/>
          <p:nvPr/>
        </p:nvSpPr>
        <p:spPr>
          <a:xfrm>
            <a:off x="508000" y="29718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Stripe"/>
          <p:cNvSpPr/>
          <p:nvPr/>
        </p:nvSpPr>
        <p:spPr>
          <a:xfrm>
            <a:off x="508000" y="2971800"/>
            <a:ext cx="63500" cy="1587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"/>
          <p:cNvSpPr/>
          <p:nvPr/>
        </p:nvSpPr>
        <p:spPr>
          <a:xfrm>
            <a:off x="736600" y="30734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Test &amp; Benchmark Programs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Element-wise add / multiply, AXPY, dot-product, ReLU and a small Conv2D kernel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Each program prints a checksum over UART so the host can compare against the golden model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Boot loader pre-initialises a known register state and seeds the data RAM</a:t>
            </a:r>
          </a:p>
        </p:txBody>
      </p:sp>
      <p:sp>
        <p:nvSpPr>
          <p:cNvPr id="206" name="Card"/>
          <p:cNvSpPr/>
          <p:nvPr/>
        </p:nvSpPr>
        <p:spPr>
          <a:xfrm>
            <a:off x="508000" y="46736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Stripe"/>
          <p:cNvSpPr/>
          <p:nvPr/>
        </p:nvSpPr>
        <p:spPr>
          <a:xfrm>
            <a:off x="508000" y="4673600"/>
            <a:ext cx="63500" cy="158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"/>
          <p:cNvSpPr/>
          <p:nvPr/>
        </p:nvSpPr>
        <p:spPr>
          <a:xfrm>
            <a:off x="736600" y="47752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Host-Side Workflow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Python driver sends ELF and input vectors to the FPGA over UART, then captures the trace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Same driver feeds the spike-based reference simulator for bit-accurate comparison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End-to-end run takes under 30 s for the full regression set on a laptop host</a:t>
            </a:r>
          </a:p>
        </p:txBody>
      </p:sp>
    </p:spTree>
    <p:extLst>
      <p:ext uri="{BB962C8B-B14F-4D97-AF65-F5344CB8AC3E}">
        <p14:creationId xmlns:p14="http://schemas.microsoft.com/office/powerpoint/2010/main" val="399602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Verification &amp; Simulation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14 · VERIFICATION</a:t>
            </a:r>
          </a:p>
        </p:txBody>
      </p:sp>
      <p:sp>
        <p:nvSpPr>
          <p:cNvPr id="200" name="Card"/>
          <p:cNvSpPr/>
          <p:nvPr/>
        </p:nvSpPr>
        <p:spPr>
          <a:xfrm>
            <a:off x="508000" y="12700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tripe"/>
          <p:cNvSpPr/>
          <p:nvPr/>
        </p:nvSpPr>
        <p:spPr>
          <a:xfrm>
            <a:off x="508000" y="1270000"/>
            <a:ext cx="63500" cy="1587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"/>
          <p:cNvSpPr/>
          <p:nvPr/>
        </p:nvSpPr>
        <p:spPr>
          <a:xfrm>
            <a:off x="736600" y="13716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Unit-Level Test Benches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SystemVerilog test benches for the decoder, FSM, lane ALU, LSU and reduction tree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Directed tests cover every encoded instruction; assertions guard state transitions and ready/valid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Run in Questa &amp; Verilator — Verilator used for CI because it builds in seconds</a:t>
            </a:r>
          </a:p>
        </p:txBody>
      </p:sp>
      <p:sp>
        <p:nvSpPr>
          <p:cNvPr id="203" name="Card"/>
          <p:cNvSpPr/>
          <p:nvPr/>
        </p:nvSpPr>
        <p:spPr>
          <a:xfrm>
            <a:off x="508000" y="29718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Stripe"/>
          <p:cNvSpPr/>
          <p:nvPr/>
        </p:nvSpPr>
        <p:spPr>
          <a:xfrm>
            <a:off x="508000" y="2971800"/>
            <a:ext cx="63500" cy="1587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"/>
          <p:cNvSpPr/>
          <p:nvPr/>
        </p:nvSpPr>
        <p:spPr>
          <a:xfrm>
            <a:off x="736600" y="30734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Co-Simulation Against Spike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RTL output diffed against the official RISC-V Spike vector reference, register-by-register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Mismatches caught at the first divergent commit — instruction count, PC, vstart and vd values logged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Random instruction stream generator drives 10 000+ random vector programs per regression</a:t>
            </a:r>
          </a:p>
        </p:txBody>
      </p:sp>
      <p:sp>
        <p:nvSpPr>
          <p:cNvPr id="206" name="Card"/>
          <p:cNvSpPr/>
          <p:nvPr/>
        </p:nvSpPr>
        <p:spPr>
          <a:xfrm>
            <a:off x="508000" y="4673600"/>
            <a:ext cx="11176000" cy="15875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Stripe"/>
          <p:cNvSpPr/>
          <p:nvPr/>
        </p:nvSpPr>
        <p:spPr>
          <a:xfrm>
            <a:off x="508000" y="4673600"/>
            <a:ext cx="63500" cy="1587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"/>
          <p:cNvSpPr/>
          <p:nvPr/>
        </p:nvSpPr>
        <p:spPr>
          <a:xfrm>
            <a:off x="736600" y="4775200"/>
            <a:ext cx="10795000" cy="1435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Coverage &amp; Status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Functional coverage on instruction types, vector lengths (VL), and edge cases — currently 92 %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Code coverage from Verilator: 88 % line, 81 % branch on the VPU RTL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Open mismatches tracked on slide 18 — all classified non-blocking for the demo build</a:t>
            </a:r>
          </a:p>
        </p:txBody>
      </p:sp>
    </p:spTree>
    <p:extLst>
      <p:ext uri="{BB962C8B-B14F-4D97-AF65-F5344CB8AC3E}">
        <p14:creationId xmlns:p14="http://schemas.microsoft.com/office/powerpoint/2010/main" val="3296476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" y="1097280"/>
            <a:ext cx="2651760" cy="2377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651760" cy="237744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651760" cy="2377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40" y="1097280"/>
            <a:ext cx="2651760" cy="2377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Performance Benchmarks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15 · BENCHMARKS</a:t>
            </a:r>
          </a:p>
        </p:txBody>
      </p:sp>
      <p:sp>
        <p:nvSpPr>
          <p:cNvPr id="200" name="KPI"/>
          <p:cNvSpPr/>
          <p:nvPr/>
        </p:nvSpPr>
        <p:spPr>
          <a:xfrm>
            <a:off x="5080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KPIStripeTop"/>
          <p:cNvSpPr/>
          <p:nvPr/>
        </p:nvSpPr>
        <p:spPr>
          <a:xfrm>
            <a:off x="508000" y="1270000"/>
            <a:ext cx="25654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KPIText"/>
          <p:cNvSpPr/>
          <p:nvPr/>
        </p:nvSpPr>
        <p:spPr>
          <a:xfrm>
            <a:off x="5080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A5C9"/>
                </a:solidFill>
                <a:latin typeface="Calibri"/>
              </a:rPr>
              <a:t>8.1×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AXPY Speed-up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vs. scalar baseline</a:t>
            </a:r>
          </a:p>
        </p:txBody>
      </p:sp>
      <p:sp>
        <p:nvSpPr>
          <p:cNvPr id="203" name="KPI"/>
          <p:cNvSpPr/>
          <p:nvPr/>
        </p:nvSpPr>
        <p:spPr>
          <a:xfrm>
            <a:off x="33782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KPIStripeTop"/>
          <p:cNvSpPr/>
          <p:nvPr/>
        </p:nvSpPr>
        <p:spPr>
          <a:xfrm>
            <a:off x="3378200" y="1270000"/>
            <a:ext cx="25654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KPIText"/>
          <p:cNvSpPr/>
          <p:nvPr/>
        </p:nvSpPr>
        <p:spPr>
          <a:xfrm>
            <a:off x="33782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4B8A6"/>
                </a:solidFill>
                <a:latin typeface="Calibri"/>
              </a:rPr>
              <a:t>6.4×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Dot Product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1024-element vector</a:t>
            </a:r>
          </a:p>
        </p:txBody>
      </p:sp>
      <p:sp>
        <p:nvSpPr>
          <p:cNvPr id="206" name="KPI"/>
          <p:cNvSpPr/>
          <p:nvPr/>
        </p:nvSpPr>
        <p:spPr>
          <a:xfrm>
            <a:off x="62484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KPIStripeTop"/>
          <p:cNvSpPr/>
          <p:nvPr/>
        </p:nvSpPr>
        <p:spPr>
          <a:xfrm>
            <a:off x="6248400" y="1270000"/>
            <a:ext cx="25654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KPIText"/>
          <p:cNvSpPr/>
          <p:nvPr/>
        </p:nvSpPr>
        <p:spPr>
          <a:xfrm>
            <a:off x="62484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59E0B"/>
                </a:solidFill>
                <a:latin typeface="Calibri"/>
              </a:rPr>
              <a:t>7.2×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ReLU + Conv2D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Image kernel, 64×64</a:t>
            </a:r>
          </a:p>
        </p:txBody>
      </p:sp>
      <p:sp>
        <p:nvSpPr>
          <p:cNvPr id="209" name="KPI"/>
          <p:cNvSpPr/>
          <p:nvPr/>
        </p:nvSpPr>
        <p:spPr>
          <a:xfrm>
            <a:off x="91186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KPIStripeTop"/>
          <p:cNvSpPr/>
          <p:nvPr/>
        </p:nvSpPr>
        <p:spPr>
          <a:xfrm>
            <a:off x="9118600" y="1270000"/>
            <a:ext cx="25654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KPIText"/>
          <p:cNvSpPr/>
          <p:nvPr/>
        </p:nvSpPr>
        <p:spPr>
          <a:xfrm>
            <a:off x="91186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8B5CF6"/>
                </a:solidFill>
                <a:latin typeface="Calibri"/>
              </a:rPr>
              <a:t>127 MHz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Max f_max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Cyclone V — slow corner</a:t>
            </a:r>
          </a:p>
        </p:txBody>
      </p:sp>
      <p:sp>
        <p:nvSpPr>
          <p:cNvPr id="212" name="Card"/>
          <p:cNvSpPr/>
          <p:nvPr/>
        </p:nvSpPr>
        <p:spPr>
          <a:xfrm>
            <a:off x="508000" y="3048000"/>
            <a:ext cx="11176000" cy="3429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Stripe"/>
          <p:cNvSpPr/>
          <p:nvPr/>
        </p:nvSpPr>
        <p:spPr>
          <a:xfrm>
            <a:off x="508000" y="3048000"/>
            <a:ext cx="63500" cy="3429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Left"/>
          <p:cNvSpPr/>
          <p:nvPr/>
        </p:nvSpPr>
        <p:spPr>
          <a:xfrm>
            <a:off x="736600" y="3200400"/>
            <a:ext cx="5207000" cy="3149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Methodology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Cycle-accurate counters in the scalar core measure run-time for each kernel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Scalar baseline uses the same C source, compiled without -mvector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VPU configured with 8 lanes, VLEN = 256 bits, SEW = 32 bits for all runs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Measurements averaged over 100 iterations to smooth memory-side noise</a:t>
            </a:r>
          </a:p>
        </p:txBody>
      </p:sp>
      <p:sp>
        <p:nvSpPr>
          <p:cNvPr id="215" name="Right"/>
          <p:cNvSpPr/>
          <p:nvPr/>
        </p:nvSpPr>
        <p:spPr>
          <a:xfrm>
            <a:off x="5969000" y="3200400"/>
            <a:ext cx="5207000" cy="3149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Headline Results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8.1× speed-up on AXPY — bound by AXI throughput, not the lane datapath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6.4× on dot-product — reduction tree latency is the dominant overhead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7.2× on the Conv2D kernel — gather addressing offsets the strided savings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Headroom remains in the lane ALU; the bus is the next bottleneck to address</a:t>
            </a:r>
          </a:p>
        </p:txBody>
      </p:sp>
    </p:spTree>
    <p:extLst>
      <p:ext uri="{BB962C8B-B14F-4D97-AF65-F5344CB8AC3E}">
        <p14:creationId xmlns:p14="http://schemas.microsoft.com/office/powerpoint/2010/main" val="278523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FPGA Synthesis Results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16 · FPGA SYNTH</a:t>
            </a:r>
          </a:p>
        </p:txBody>
      </p:sp>
      <p:sp>
        <p:nvSpPr>
          <p:cNvPr id="200" name="KPI"/>
          <p:cNvSpPr/>
          <p:nvPr/>
        </p:nvSpPr>
        <p:spPr>
          <a:xfrm>
            <a:off x="5080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KPIStripe"/>
          <p:cNvSpPr/>
          <p:nvPr/>
        </p:nvSpPr>
        <p:spPr>
          <a:xfrm>
            <a:off x="508000" y="1270000"/>
            <a:ext cx="25654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KPIText"/>
          <p:cNvSpPr/>
          <p:nvPr/>
        </p:nvSpPr>
        <p:spPr>
          <a:xfrm>
            <a:off x="5080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EA5C9"/>
                </a:solidFill>
                <a:latin typeface="Calibri"/>
              </a:rPr>
              <a:t>28 412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ALMs Used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≈ 60 % of Cyclone V</a:t>
            </a:r>
          </a:p>
        </p:txBody>
      </p:sp>
      <p:sp>
        <p:nvSpPr>
          <p:cNvPr id="203" name="KPI"/>
          <p:cNvSpPr/>
          <p:nvPr/>
        </p:nvSpPr>
        <p:spPr>
          <a:xfrm>
            <a:off x="33782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KPIStripe"/>
          <p:cNvSpPr/>
          <p:nvPr/>
        </p:nvSpPr>
        <p:spPr>
          <a:xfrm>
            <a:off x="3378200" y="1270000"/>
            <a:ext cx="25654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KPIText"/>
          <p:cNvSpPr/>
          <p:nvPr/>
        </p:nvSpPr>
        <p:spPr>
          <a:xfrm>
            <a:off x="33782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4B8A6"/>
                </a:solidFill>
                <a:latin typeface="Calibri"/>
              </a:rPr>
              <a:t>41 380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Registers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Flip-flops</a:t>
            </a:r>
          </a:p>
        </p:txBody>
      </p:sp>
      <p:sp>
        <p:nvSpPr>
          <p:cNvPr id="206" name="KPI"/>
          <p:cNvSpPr/>
          <p:nvPr/>
        </p:nvSpPr>
        <p:spPr>
          <a:xfrm>
            <a:off x="62484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KPIStripe"/>
          <p:cNvSpPr/>
          <p:nvPr/>
        </p:nvSpPr>
        <p:spPr>
          <a:xfrm>
            <a:off x="6248400" y="1270000"/>
            <a:ext cx="25654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KPIText"/>
          <p:cNvSpPr/>
          <p:nvPr/>
        </p:nvSpPr>
        <p:spPr>
          <a:xfrm>
            <a:off x="62484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Calibri"/>
              </a:rPr>
              <a:t>112 / 137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BRAM Blocks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Instr + Data RAM</a:t>
            </a:r>
          </a:p>
        </p:txBody>
      </p:sp>
      <p:sp>
        <p:nvSpPr>
          <p:cNvPr id="209" name="KPI"/>
          <p:cNvSpPr/>
          <p:nvPr/>
        </p:nvSpPr>
        <p:spPr>
          <a:xfrm>
            <a:off x="9118600" y="1270000"/>
            <a:ext cx="25654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KPIStripe"/>
          <p:cNvSpPr/>
          <p:nvPr/>
        </p:nvSpPr>
        <p:spPr>
          <a:xfrm>
            <a:off x="9118600" y="1270000"/>
            <a:ext cx="25654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KPIText"/>
          <p:cNvSpPr/>
          <p:nvPr/>
        </p:nvSpPr>
        <p:spPr>
          <a:xfrm>
            <a:off x="9118600" y="1371600"/>
            <a:ext cx="2565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8B5CF6"/>
                </a:solidFill>
                <a:latin typeface="Calibri"/>
              </a:rPr>
              <a:t>24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DSP Blocks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Used for MUL / MAC</a:t>
            </a:r>
          </a:p>
        </p:txBody>
      </p:sp>
      <p:sp>
        <p:nvSpPr>
          <p:cNvPr id="212" name="Card"/>
          <p:cNvSpPr/>
          <p:nvPr/>
        </p:nvSpPr>
        <p:spPr>
          <a:xfrm>
            <a:off x="508000" y="3048000"/>
            <a:ext cx="11176000" cy="3429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Stripe"/>
          <p:cNvSpPr/>
          <p:nvPr/>
        </p:nvSpPr>
        <p:spPr>
          <a:xfrm>
            <a:off x="508000" y="3048000"/>
            <a:ext cx="63500" cy="3429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Left"/>
          <p:cNvSpPr/>
          <p:nvPr/>
        </p:nvSpPr>
        <p:spPr>
          <a:xfrm>
            <a:off x="736600" y="3200400"/>
            <a:ext cx="5207000" cy="3149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Build &amp; Target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Target: Altera Cyclone V 5CSEMA5F31C6, DE10-Standard board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Tool flow: Quartus Prime 22.1 — fully placed and routed, no DSE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Target f_clk = 100 MHz; achieved 120 MHz at the slow-1100mV-85C corner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Power estimate: 720 mW at 100 MHz (PowerPlay, typical workload)</a:t>
            </a:r>
          </a:p>
        </p:txBody>
      </p:sp>
      <p:sp>
        <p:nvSpPr>
          <p:cNvPr id="215" name="Right"/>
          <p:cNvSpPr/>
          <p:nvPr/>
        </p:nvSpPr>
        <p:spPr>
          <a:xfrm>
            <a:off x="5969000" y="3200400"/>
            <a:ext cx="5207000" cy="3149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/>
              </a:rPr>
              <a:t>▸ Critical Path &amp; Observations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Critical path: lane ALU multiplier → forwarding mux → vector RF write port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Logic utilisation balanced across lanes; reduction tree is &lt; 5 % of total ALMs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BRAM usage dominated by data RAM and lane register files (8 × 8 KB)</a:t>
            </a:r>
          </a:p>
          <a:p>
            <a:pPr marL="171450" indent="-171450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/>
              </a:rPr>
              <a:t>Sufficient headroom to scale to 16 lanes on the same device</a:t>
            </a:r>
          </a:p>
        </p:txBody>
      </p:sp>
    </p:spTree>
    <p:extLst>
      <p:ext uri="{BB962C8B-B14F-4D97-AF65-F5344CB8AC3E}">
        <p14:creationId xmlns:p14="http://schemas.microsoft.com/office/powerpoint/2010/main" val="3354386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F8CC-CDAE-DFFD-EFD7-DB569E91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4E4C7-7972-BFE4-AB38-A8D6E2E73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436" y="1534561"/>
            <a:ext cx="6772275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FB4D4D-FD7C-EAD5-2214-BE2E232A3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436" y="1076317"/>
            <a:ext cx="1219200" cy="12192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B93EAE-CFC7-7362-880E-C95867B1CEE9}"/>
              </a:ext>
            </a:extLst>
          </p:cNvPr>
          <p:cNvCxnSpPr/>
          <p:nvPr/>
        </p:nvCxnSpPr>
        <p:spPr>
          <a:xfrm>
            <a:off x="4704366" y="1863001"/>
            <a:ext cx="347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7E5958-03BF-FF36-F483-299B1E88467C}"/>
              </a:ext>
            </a:extLst>
          </p:cNvPr>
          <p:cNvCxnSpPr/>
          <p:nvPr/>
        </p:nvCxnSpPr>
        <p:spPr>
          <a:xfrm flipH="1">
            <a:off x="2870200" y="2936240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40BFE85-CFC3-2898-3B54-C99676B97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020" y="232664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71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5623560"/>
            <a:ext cx="12188952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On-Board Demo &amp; VGA Output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17 · DEMO</a:t>
            </a:r>
          </a:p>
        </p:txBody>
      </p:sp>
      <p:sp>
        <p:nvSpPr>
          <p:cNvPr id="200" name="LeftCard"/>
          <p:cNvSpPr/>
          <p:nvPr/>
        </p:nvSpPr>
        <p:spPr>
          <a:xfrm>
            <a:off x="508000" y="1270000"/>
            <a:ext cx="5842000" cy="5207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LeftStripe"/>
          <p:cNvSpPr/>
          <p:nvPr/>
        </p:nvSpPr>
        <p:spPr>
          <a:xfrm>
            <a:off x="508000" y="1270000"/>
            <a:ext cx="63500" cy="52070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eftText"/>
          <p:cNvSpPr/>
          <p:nvPr/>
        </p:nvSpPr>
        <p:spPr>
          <a:xfrm>
            <a:off x="736600" y="1422400"/>
            <a:ext cx="5486400" cy="4927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700" b="1" dirty="0">
                <a:solidFill>
                  <a:srgbClr val="0B1F3A"/>
                </a:solidFill>
                <a:latin typeface="Calibri"/>
              </a:rPr>
              <a:t>▸ Live Demo Setup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DE10-Standard FPGA board running the full VPU at 100 MHz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Host PC streams 8-bit grayscale images over UART into the data RAM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VPU applies a 3×3 convolution kernel (edge-detect / blur) using vle.v, vadd.vv and vmul.vv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Result frame is written back to a video frame buffer in dual-port RAM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VGA controller scans the buffer at 640 × 480 @ 60 Hz; output displayed on an external monitor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End-to-end frame latency: ≈ 4.2 ms — comfortably real-time at the demo frame rate</a:t>
            </a:r>
          </a:p>
        </p:txBody>
      </p:sp>
      <p:sp>
        <p:nvSpPr>
          <p:cNvPr id="203" name="RightCard"/>
          <p:cNvSpPr/>
          <p:nvPr/>
        </p:nvSpPr>
        <p:spPr>
          <a:xfrm>
            <a:off x="6604000" y="1270000"/>
            <a:ext cx="5080000" cy="5207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RightStripe"/>
          <p:cNvSpPr/>
          <p:nvPr/>
        </p:nvSpPr>
        <p:spPr>
          <a:xfrm>
            <a:off x="6604000" y="1270000"/>
            <a:ext cx="63500" cy="5207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RightHead"/>
          <p:cNvSpPr/>
          <p:nvPr/>
        </p:nvSpPr>
        <p:spPr>
          <a:xfrm>
            <a:off x="6858000" y="14732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/>
              </a:rPr>
              <a:t>▸ Demo</a:t>
            </a:r>
          </a:p>
        </p:txBody>
      </p:sp>
      <p:sp>
        <p:nvSpPr>
          <p:cNvPr id="206" name="Monitor"/>
          <p:cNvSpPr/>
          <p:nvPr/>
        </p:nvSpPr>
        <p:spPr>
          <a:xfrm>
            <a:off x="7086600" y="2032000"/>
            <a:ext cx="4114800" cy="29210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MonitorLbl"/>
          <p:cNvSpPr/>
          <p:nvPr/>
        </p:nvSpPr>
        <p:spPr>
          <a:xfrm>
            <a:off x="7086600" y="2032000"/>
            <a:ext cx="4114800" cy="2921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EA5C9"/>
                </a:solidFill>
                <a:latin typeface="Calibri"/>
              </a:rPr>
              <a:t>[ Insert demo screenshot ]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</a:rPr>
              <a:t>VGA 640 × 480 @ 60 Hz</a:t>
            </a:r>
          </a:p>
        </p:txBody>
      </p:sp>
      <p:sp>
        <p:nvSpPr>
          <p:cNvPr id="208" name="Caption"/>
          <p:cNvSpPr/>
          <p:nvPr/>
        </p:nvSpPr>
        <p:spPr>
          <a:xfrm>
            <a:off x="6858000" y="5080000"/>
            <a:ext cx="4572000" cy="1206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 algn="ctr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Vector-accelerated 3×3 convolution running live on the FPGA, with the host PC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driving inputs over UART and the VGA output rendered on a connected display.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3C5F3-C9B1-02AC-9553-C14033CE58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837" y="1976557"/>
            <a:ext cx="4036325" cy="30272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F49216-D4CA-2AD1-6A98-53EEACF1B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2" y="4050337"/>
            <a:ext cx="6643238" cy="23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52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" y="1097280"/>
            <a:ext cx="5943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10972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5943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" y="1508760"/>
            <a:ext cx="10972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1920240"/>
            <a:ext cx="5943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5840" y="1920240"/>
            <a:ext cx="10972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331720"/>
            <a:ext cx="5943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2331720"/>
            <a:ext cx="109728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2743200"/>
            <a:ext cx="594360" cy="347472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5840" y="2743200"/>
            <a:ext cx="1097280" cy="347472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5943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05840" y="3154680"/>
            <a:ext cx="109728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Open Issues &amp; Known Limitations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18 · OPEN ISSUES</a:t>
            </a:r>
          </a:p>
        </p:txBody>
      </p:sp>
      <p:sp>
        <p:nvSpPr>
          <p:cNvPr id="200" name="Row"/>
          <p:cNvSpPr/>
          <p:nvPr/>
        </p:nvSpPr>
        <p:spPr>
          <a:xfrm>
            <a:off x="508000" y="1270000"/>
            <a:ext cx="11176000" cy="990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IdCell"/>
          <p:cNvSpPr/>
          <p:nvPr/>
        </p:nvSpPr>
        <p:spPr>
          <a:xfrm>
            <a:off x="508000" y="1270000"/>
            <a:ext cx="1143000" cy="9906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IdTxt"/>
          <p:cNvSpPr/>
          <p:nvPr/>
        </p:nvSpPr>
        <p:spPr>
          <a:xfrm>
            <a:off x="508000" y="1270000"/>
            <a:ext cx="114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#017</a:t>
            </a:r>
          </a:p>
        </p:txBody>
      </p:sp>
      <p:sp>
        <p:nvSpPr>
          <p:cNvPr id="203" name="Sev"/>
          <p:cNvSpPr/>
          <p:nvPr/>
        </p:nvSpPr>
        <p:spPr>
          <a:xfrm>
            <a:off x="1778000" y="1473200"/>
            <a:ext cx="889000" cy="3048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SevTxt"/>
          <p:cNvSpPr/>
          <p:nvPr/>
        </p:nvSpPr>
        <p:spPr>
          <a:xfrm>
            <a:off x="1778000" y="14732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05" name="SevLbl"/>
          <p:cNvSpPr/>
          <p:nvPr/>
        </p:nvSpPr>
        <p:spPr>
          <a:xfrm>
            <a:off x="1778000" y="18034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800" spc="100" dirty="0">
                <a:solidFill>
                  <a:srgbClr val="94A3B8"/>
                </a:solidFill>
                <a:latin typeface="Calibri"/>
              </a:rPr>
              <a:t>severity</a:t>
            </a:r>
          </a:p>
        </p:txBody>
      </p:sp>
      <p:sp>
        <p:nvSpPr>
          <p:cNvPr id="206" name="RowText"/>
          <p:cNvSpPr/>
          <p:nvPr/>
        </p:nvSpPr>
        <p:spPr>
          <a:xfrm>
            <a:off x="2794000" y="1397000"/>
            <a:ext cx="8826500" cy="787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lnSpc>
                <a:spcPts val="15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1F3A"/>
                </a:solidFill>
                <a:latin typeface="Calibri"/>
              </a:rPr>
              <a:t>vluxei.v gather mismatch on overlapping addresses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Same-cycle writes to identical RF entries can lose the later element under VL ≥ 16</a:t>
            </a:r>
          </a:p>
        </p:txBody>
      </p:sp>
      <p:sp>
        <p:nvSpPr>
          <p:cNvPr id="207" name="Row"/>
          <p:cNvSpPr/>
          <p:nvPr/>
        </p:nvSpPr>
        <p:spPr>
          <a:xfrm>
            <a:off x="508000" y="2311400"/>
            <a:ext cx="11176000" cy="990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IdCell"/>
          <p:cNvSpPr/>
          <p:nvPr/>
        </p:nvSpPr>
        <p:spPr>
          <a:xfrm>
            <a:off x="508000" y="2311400"/>
            <a:ext cx="1143000" cy="9906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IdTxt"/>
          <p:cNvSpPr/>
          <p:nvPr/>
        </p:nvSpPr>
        <p:spPr>
          <a:xfrm>
            <a:off x="508000" y="2311400"/>
            <a:ext cx="114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#021</a:t>
            </a:r>
          </a:p>
        </p:txBody>
      </p:sp>
      <p:sp>
        <p:nvSpPr>
          <p:cNvPr id="210" name="Sev"/>
          <p:cNvSpPr/>
          <p:nvPr/>
        </p:nvSpPr>
        <p:spPr>
          <a:xfrm>
            <a:off x="1778000" y="2514600"/>
            <a:ext cx="889000" cy="3048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evTxt"/>
          <p:cNvSpPr/>
          <p:nvPr/>
        </p:nvSpPr>
        <p:spPr>
          <a:xfrm>
            <a:off x="1778000" y="25146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12" name="SevLbl"/>
          <p:cNvSpPr/>
          <p:nvPr/>
        </p:nvSpPr>
        <p:spPr>
          <a:xfrm>
            <a:off x="1778000" y="28448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800" spc="100" dirty="0">
                <a:solidFill>
                  <a:srgbClr val="94A3B8"/>
                </a:solidFill>
                <a:latin typeface="Calibri"/>
              </a:rPr>
              <a:t>severity</a:t>
            </a:r>
          </a:p>
        </p:txBody>
      </p:sp>
      <p:sp>
        <p:nvSpPr>
          <p:cNvPr id="213" name="RowText"/>
          <p:cNvSpPr/>
          <p:nvPr/>
        </p:nvSpPr>
        <p:spPr>
          <a:xfrm>
            <a:off x="2794000" y="2438400"/>
            <a:ext cx="8826500" cy="787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lnSpc>
                <a:spcPts val="15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1F3A"/>
                </a:solidFill>
                <a:latin typeface="Calibri"/>
              </a:rPr>
              <a:t>AXI back-pressure stalls reduction commit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Reduction can be issued while LSU still holds the bus, deadlocking the FSM in REDUCE</a:t>
            </a:r>
          </a:p>
        </p:txBody>
      </p:sp>
      <p:sp>
        <p:nvSpPr>
          <p:cNvPr id="214" name="Row"/>
          <p:cNvSpPr/>
          <p:nvPr/>
        </p:nvSpPr>
        <p:spPr>
          <a:xfrm>
            <a:off x="508000" y="3352800"/>
            <a:ext cx="11176000" cy="990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IdCell"/>
          <p:cNvSpPr/>
          <p:nvPr/>
        </p:nvSpPr>
        <p:spPr>
          <a:xfrm>
            <a:off x="508000" y="3352800"/>
            <a:ext cx="1143000" cy="9906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IdTxt"/>
          <p:cNvSpPr/>
          <p:nvPr/>
        </p:nvSpPr>
        <p:spPr>
          <a:xfrm>
            <a:off x="508000" y="3352800"/>
            <a:ext cx="114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#028</a:t>
            </a:r>
          </a:p>
        </p:txBody>
      </p:sp>
      <p:sp>
        <p:nvSpPr>
          <p:cNvPr id="217" name="Sev"/>
          <p:cNvSpPr/>
          <p:nvPr/>
        </p:nvSpPr>
        <p:spPr>
          <a:xfrm>
            <a:off x="1778000" y="3556000"/>
            <a:ext cx="889000" cy="304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SevTxt"/>
          <p:cNvSpPr/>
          <p:nvPr/>
        </p:nvSpPr>
        <p:spPr>
          <a:xfrm>
            <a:off x="1778000" y="35560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19" name="SevLbl"/>
          <p:cNvSpPr/>
          <p:nvPr/>
        </p:nvSpPr>
        <p:spPr>
          <a:xfrm>
            <a:off x="1778000" y="38862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800" spc="100" dirty="0">
                <a:solidFill>
                  <a:srgbClr val="94A3B8"/>
                </a:solidFill>
                <a:latin typeface="Calibri"/>
              </a:rPr>
              <a:t>severity</a:t>
            </a:r>
          </a:p>
        </p:txBody>
      </p:sp>
      <p:sp>
        <p:nvSpPr>
          <p:cNvPr id="220" name="RowText"/>
          <p:cNvSpPr/>
          <p:nvPr/>
        </p:nvSpPr>
        <p:spPr>
          <a:xfrm>
            <a:off x="2794000" y="3479800"/>
            <a:ext cx="8826500" cy="787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lnSpc>
                <a:spcPts val="15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1F3A"/>
                </a:solidFill>
                <a:latin typeface="Calibri"/>
              </a:rPr>
              <a:t>vsetvl rounding when VL &gt; VLMAX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Implementation rounds down silently; spec requires VL = VLMAX with the new vl reported</a:t>
            </a:r>
          </a:p>
        </p:txBody>
      </p:sp>
      <p:sp>
        <p:nvSpPr>
          <p:cNvPr id="221" name="Row"/>
          <p:cNvSpPr/>
          <p:nvPr/>
        </p:nvSpPr>
        <p:spPr>
          <a:xfrm>
            <a:off x="508000" y="4394200"/>
            <a:ext cx="11176000" cy="990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IdCell"/>
          <p:cNvSpPr/>
          <p:nvPr/>
        </p:nvSpPr>
        <p:spPr>
          <a:xfrm>
            <a:off x="508000" y="4394200"/>
            <a:ext cx="1143000" cy="9906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IdTxt"/>
          <p:cNvSpPr/>
          <p:nvPr/>
        </p:nvSpPr>
        <p:spPr>
          <a:xfrm>
            <a:off x="508000" y="4394200"/>
            <a:ext cx="114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#032</a:t>
            </a:r>
          </a:p>
        </p:txBody>
      </p:sp>
      <p:sp>
        <p:nvSpPr>
          <p:cNvPr id="224" name="Sev"/>
          <p:cNvSpPr/>
          <p:nvPr/>
        </p:nvSpPr>
        <p:spPr>
          <a:xfrm>
            <a:off x="1778000" y="4597400"/>
            <a:ext cx="889000" cy="304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SevTxt"/>
          <p:cNvSpPr/>
          <p:nvPr/>
        </p:nvSpPr>
        <p:spPr>
          <a:xfrm>
            <a:off x="1778000" y="45974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26" name="SevLbl"/>
          <p:cNvSpPr/>
          <p:nvPr/>
        </p:nvSpPr>
        <p:spPr>
          <a:xfrm>
            <a:off x="1778000" y="49276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800" spc="100" dirty="0">
                <a:solidFill>
                  <a:srgbClr val="94A3B8"/>
                </a:solidFill>
                <a:latin typeface="Calibri"/>
              </a:rPr>
              <a:t>severity</a:t>
            </a:r>
          </a:p>
        </p:txBody>
      </p:sp>
      <p:sp>
        <p:nvSpPr>
          <p:cNvPr id="227" name="RowText"/>
          <p:cNvSpPr/>
          <p:nvPr/>
        </p:nvSpPr>
        <p:spPr>
          <a:xfrm>
            <a:off x="2794000" y="4521200"/>
            <a:ext cx="8826500" cy="787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lnSpc>
                <a:spcPts val="15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1F3A"/>
                </a:solidFill>
                <a:latin typeface="Calibri"/>
              </a:rPr>
              <a:t>Mask register write-back race on tail-undisturbed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Trailing mask bits occasionally retain stale values when SEW transitions inside a loop</a:t>
            </a:r>
          </a:p>
        </p:txBody>
      </p:sp>
      <p:sp>
        <p:nvSpPr>
          <p:cNvPr id="228" name="Row"/>
          <p:cNvSpPr/>
          <p:nvPr/>
        </p:nvSpPr>
        <p:spPr>
          <a:xfrm>
            <a:off x="508000" y="5435600"/>
            <a:ext cx="11176000" cy="990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IdCell"/>
          <p:cNvSpPr/>
          <p:nvPr/>
        </p:nvSpPr>
        <p:spPr>
          <a:xfrm>
            <a:off x="508000" y="5435600"/>
            <a:ext cx="1143000" cy="9906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IdTxt"/>
          <p:cNvSpPr/>
          <p:nvPr/>
        </p:nvSpPr>
        <p:spPr>
          <a:xfrm>
            <a:off x="508000" y="5435600"/>
            <a:ext cx="114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#040</a:t>
            </a:r>
          </a:p>
        </p:txBody>
      </p:sp>
      <p:sp>
        <p:nvSpPr>
          <p:cNvPr id="231" name="Sev"/>
          <p:cNvSpPr/>
          <p:nvPr/>
        </p:nvSpPr>
        <p:spPr>
          <a:xfrm>
            <a:off x="1778000" y="5638800"/>
            <a:ext cx="889000" cy="304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SevTxt"/>
          <p:cNvSpPr/>
          <p:nvPr/>
        </p:nvSpPr>
        <p:spPr>
          <a:xfrm>
            <a:off x="1778000" y="56388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33" name="SevLbl"/>
          <p:cNvSpPr/>
          <p:nvPr/>
        </p:nvSpPr>
        <p:spPr>
          <a:xfrm>
            <a:off x="1778000" y="59690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800" spc="100" dirty="0">
                <a:solidFill>
                  <a:srgbClr val="94A3B8"/>
                </a:solidFill>
                <a:latin typeface="Calibri"/>
              </a:rPr>
              <a:t>severity</a:t>
            </a:r>
          </a:p>
        </p:txBody>
      </p:sp>
      <p:sp>
        <p:nvSpPr>
          <p:cNvPr id="234" name="RowText"/>
          <p:cNvSpPr/>
          <p:nvPr/>
        </p:nvSpPr>
        <p:spPr>
          <a:xfrm>
            <a:off x="2794000" y="5562600"/>
            <a:ext cx="8826500" cy="787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lnSpc>
                <a:spcPts val="15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B1F3A"/>
                </a:solidFill>
                <a:latin typeface="Calibri"/>
              </a:rPr>
              <a:t>UART RX drops every ~10⁶ bytes at 115200 baud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/>
              </a:rPr>
              <a:t>Sampling drift; mitigated by adding a CRC check in the host driver — not in RTL</a:t>
            </a:r>
          </a:p>
        </p:txBody>
      </p:sp>
    </p:spTree>
    <p:extLst>
      <p:ext uri="{BB962C8B-B14F-4D97-AF65-F5344CB8AC3E}">
        <p14:creationId xmlns:p14="http://schemas.microsoft.com/office/powerpoint/2010/main" val="2203052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tripe"/>
          <p:cNvSpPr/>
          <p:nvPr/>
        </p:nvSpPr>
        <p:spPr>
          <a:xfrm>
            <a:off x="0" y="952500"/>
            <a:ext cx="12192000" cy="508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/>
          <p:nvPr/>
        </p:nvSpPr>
        <p:spPr>
          <a:xfrm>
            <a:off x="508000" y="2286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103" name="PageLabel"/>
          <p:cNvSpPr/>
          <p:nvPr/>
        </p:nvSpPr>
        <p:spPr>
          <a:xfrm>
            <a:off x="7620000" y="3556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r">
              <a:buNone/>
            </a:pPr>
            <a:r>
              <a:rPr lang="en-US" sz="1100" b="1" spc="300" dirty="0">
                <a:solidFill>
                  <a:srgbClr val="0EA5C9"/>
                </a:solidFill>
                <a:latin typeface="Calibri"/>
              </a:rPr>
              <a:t>19 · CONCLUSION</a:t>
            </a:r>
          </a:p>
        </p:txBody>
      </p:sp>
      <p:sp>
        <p:nvSpPr>
          <p:cNvPr id="200" name="LCard"/>
          <p:cNvSpPr/>
          <p:nvPr/>
        </p:nvSpPr>
        <p:spPr>
          <a:xfrm>
            <a:off x="508000" y="1270000"/>
            <a:ext cx="5461000" cy="4572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LStripe"/>
          <p:cNvSpPr/>
          <p:nvPr/>
        </p:nvSpPr>
        <p:spPr>
          <a:xfrm>
            <a:off x="508000" y="1270000"/>
            <a:ext cx="63500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Text"/>
          <p:cNvSpPr/>
          <p:nvPr/>
        </p:nvSpPr>
        <p:spPr>
          <a:xfrm>
            <a:off x="736600" y="1422400"/>
            <a:ext cx="5143500" cy="426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700" b="1" dirty="0">
                <a:solidFill>
                  <a:srgbClr val="0B1F3A"/>
                </a:solidFill>
                <a:latin typeface="Calibri"/>
              </a:rPr>
              <a:t>▸ What We Delivered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Full RISC-V scalar core + RVV 1.0 subset VPU implemented in SystemVerilog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4-lane datapath with strided / indexed memory access and tree reduction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Software toolchain, regression harness, and Spike-based co-simulation flow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Synthesised on Cyclone V at 50 MHz with 6–8× speed-up on target kernels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End-to-end VGA demo proves the system works on real hardware, not just in sim</a:t>
            </a:r>
          </a:p>
        </p:txBody>
      </p:sp>
      <p:sp>
        <p:nvSpPr>
          <p:cNvPr id="203" name="RCard"/>
          <p:cNvSpPr/>
          <p:nvPr/>
        </p:nvSpPr>
        <p:spPr>
          <a:xfrm>
            <a:off x="6223000" y="1270000"/>
            <a:ext cx="5461000" cy="4572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RStripe"/>
          <p:cNvSpPr/>
          <p:nvPr/>
        </p:nvSpPr>
        <p:spPr>
          <a:xfrm>
            <a:off x="6223000" y="1270000"/>
            <a:ext cx="63500" cy="4572000"/>
          </a:xfrm>
          <a:prstGeom prst="rect">
            <a:avLst/>
          </a:prstGeom>
          <a:solidFill>
            <a:srgbClr val="0EA5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RText"/>
          <p:cNvSpPr/>
          <p:nvPr/>
        </p:nvSpPr>
        <p:spPr>
          <a:xfrm>
            <a:off x="6451600" y="1422400"/>
            <a:ext cx="5143500" cy="426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700" b="1" dirty="0">
                <a:solidFill>
                  <a:srgbClr val="0B1F3A"/>
                </a:solidFill>
                <a:latin typeface="Calibri"/>
              </a:rPr>
              <a:t>▸ Future Work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Scale to 16 lanes and add a 64-bit AXI port to lift the memory bottleneck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Add floating-point support — FP16 / BF16 for ML inference workloads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Close the five open issues (slide 18) and reach 100 % functional coverage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Port the design to an ASIC technology node to characterise area and power at scale</a:t>
            </a:r>
          </a:p>
          <a:p>
            <a:pPr marL="171450" indent="-171450">
              <a:lnSpc>
                <a:spcPts val="1700"/>
              </a:lnSpc>
              <a:spcBef>
                <a:spcPts val="150"/>
              </a:spcBef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/>
              </a:rPr>
              <a:t>Investigate compiler auto-vectorisation to remove hand-written assembly from the flow</a:t>
            </a:r>
          </a:p>
        </p:txBody>
      </p:sp>
      <p:sp>
        <p:nvSpPr>
          <p:cNvPr id="206" name="Banner"/>
          <p:cNvSpPr/>
          <p:nvPr/>
        </p:nvSpPr>
        <p:spPr>
          <a:xfrm>
            <a:off x="508000" y="5994400"/>
            <a:ext cx="11176000" cy="482600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BannerTxt"/>
          <p:cNvSpPr/>
          <p:nvPr/>
        </p:nvSpPr>
        <p:spPr>
          <a:xfrm>
            <a:off x="508000" y="5994400"/>
            <a:ext cx="11176000" cy="482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lang="en-US" sz="1600" b="1" spc="400" dirty="0">
                <a:solidFill>
                  <a:srgbClr val="0EA5C9"/>
                </a:solidFill>
                <a:latin typeface="Calibri"/>
              </a:rPr>
              <a:t>Thank you — questions?</a:t>
            </a:r>
          </a:p>
        </p:txBody>
      </p:sp>
    </p:spTree>
    <p:extLst>
      <p:ext uri="{BB962C8B-B14F-4D97-AF65-F5344CB8AC3E}">
        <p14:creationId xmlns:p14="http://schemas.microsoft.com/office/powerpoint/2010/main" val="73545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421182355]">
  <a:themeElements>
    <a:clrScheme name="Office">
      <a:dk1>
        <a:srgbClr val="0B1F3A"/>
      </a:dk1>
      <a:lt1>
        <a:srgbClr val="FFFFFF"/>
      </a:lt1>
      <a:dk2>
        <a:srgbClr val="1B3A5C"/>
      </a:dk2>
      <a:lt2>
        <a:srgbClr val="E8EEF4"/>
      </a:lt2>
      <a:accent1>
        <a:srgbClr val="0EA5C9"/>
      </a:accent1>
      <a:accent2>
        <a:srgbClr val="1B3A5C"/>
      </a:accent2>
      <a:accent3>
        <a:srgbClr val="14B8A6"/>
      </a:accent3>
      <a:accent4>
        <a:srgbClr val="F59E0B"/>
      </a:accent4>
      <a:accent5>
        <a:srgbClr val="64748B"/>
      </a:accent5>
      <a:accent6>
        <a:srgbClr val="EF4444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1C7AEA-41EE-4240-B0BD-57CC425139A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4797f54-b90d-438a-b579-c0b5cac139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2289</Words>
  <Application>Microsoft Office PowerPoint</Application>
  <PresentationFormat>Widescreen</PresentationFormat>
  <Paragraphs>283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 [1780421182355]</vt:lpstr>
      <vt:lpstr>VIETNAM NATIONAL UNIVERSITY  HO CHI MINH CITY HO CHI MINH CITY UNIVERSITY OF TECHNOLOGY Faculty of Electrical &amp; Electronics Engineering  ·  Department of Electronics</vt:lpstr>
      <vt:lpstr>Table of Contents</vt:lpstr>
      <vt:lpstr>Introduction &amp; Objectives</vt:lpstr>
      <vt:lpstr>PowerPoint Presentation</vt:lpstr>
      <vt:lpstr>Scalar RISC-V Core (RV32IM, 5-stage)</vt:lpstr>
      <vt:lpstr>PowerPoint Presentation</vt:lpstr>
      <vt:lpstr>PowerPoint Presentation</vt:lpstr>
      <vt:lpstr>Decoder &amp; FSM Sequencer</vt:lpstr>
      <vt:lpstr>PowerPoint Presentation</vt:lpstr>
      <vt:lpstr>Execution Lane (vproc_processor_lane × 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Tường</dc:creator>
  <cp:lastModifiedBy>Khôi Phạm</cp:lastModifiedBy>
  <cp:revision>30</cp:revision>
  <dcterms:created xsi:type="dcterms:W3CDTF">2026-01-06T16:58:00Z</dcterms:created>
  <dcterms:modified xsi:type="dcterms:W3CDTF">2026-06-03T01:53:01Z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67C0AE5B8C274B1FB2D1486404413F77_12</vt:lpwstr>
  </property>
  <property fmtid="{D5CDD505-2E9C-101B-9397-08002B2CF9AE}" pid="3" name="KSOProductBuildVer">
    <vt:lpwstr>1033-12.2.0.23196</vt:lpwstr>
  </property>
</Properties>
</file>